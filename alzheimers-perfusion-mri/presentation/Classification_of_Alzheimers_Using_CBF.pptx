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3"/>
  </p:notes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oppins Bold" charset="1" panose="02000000000000000000"/>
      <p:regular r:id="rId16"/>
    </p:embeddedFont>
    <p:embeddedFont>
      <p:font typeface="Poppins Light" charset="1" panose="02000000000000000000"/>
      <p:regular r:id="rId17"/>
    </p:embeddedFont>
    <p:embeddedFont>
      <p:font typeface="Poppins Semi-Bold" charset="1" panose="00000700000000000000"/>
      <p:regular r:id="rId19"/>
    </p:embeddedFont>
    <p:embeddedFont>
      <p:font typeface="Poppins" charset="1" panose="00000500000000000000"/>
      <p:regular r:id="rId21"/>
    </p:embeddedFont>
    <p:embeddedFont>
      <p:font typeface="Poppins Light Bold" charset="1" panose="02000000000000000000"/>
      <p:regular r:id="rId23"/>
    </p:embeddedFont>
    <p:embeddedFont>
      <p:font typeface="Poppins Medium" charset="1" panose="000006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notesMasters/notesMaster1.xml" Type="http://schemas.openxmlformats.org/officeDocument/2006/relationships/notesMaster"/><Relationship Id="rId14" Target="theme/theme2.xml" Type="http://schemas.openxmlformats.org/officeDocument/2006/relationships/theme"/><Relationship Id="rId15" Target="notesSlides/notesSlide1.xml" Type="http://schemas.openxmlformats.org/officeDocument/2006/relationships/notesSlide"/><Relationship Id="rId16" Target="fonts/font16.fntdata" Type="http://schemas.openxmlformats.org/officeDocument/2006/relationships/font"/><Relationship Id="rId17" Target="fonts/font17.fntdata" Type="http://schemas.openxmlformats.org/officeDocument/2006/relationships/font"/><Relationship Id="rId18" Target="notesSlides/notesSlide2.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notesSlides/notesSlide3.xml" Type="http://schemas.openxmlformats.org/officeDocument/2006/relationships/notesSlide"/><Relationship Id="rId21" Target="fonts/font21.fntdata" Type="http://schemas.openxmlformats.org/officeDocument/2006/relationships/font"/><Relationship Id="rId22" Target="notesSlides/notesSlide4.xml" Type="http://schemas.openxmlformats.org/officeDocument/2006/relationships/notesSlide"/><Relationship Id="rId23" Target="fonts/font23.fntdata" Type="http://schemas.openxmlformats.org/officeDocument/2006/relationships/font"/><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everyone, today I'll speaking about my model which predicts alzheimers diagnosis from perfusion MRI.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Alzheimer’s is hard to diagnose early because symptoms overlap with normal aging. Current methods like PET scans or spinal taps are expensive and invasive. Arterial Spin Labeling or ASL offers a non-contrast MRI method to measure cerebral blood flow.</a:t>
            </a:r>
          </a:p>
          <a:p>
            <a:r>
              <a:rPr lang="en-US"/>
              <a:t/>
            </a:r>
          </a:p>
          <a:p>
            <a:r>
              <a:rPr lang="en-US"/>
              <a:t>ASL works by tagging water molecules with a RF pulse in the arterial blood with a magnetic label and then tracking their movement as they flow into the brain tissue.</a:t>
            </a:r>
          </a:p>
          <a:p>
            <a:r>
              <a:rPr lang="en-US"/>
              <a:t/>
            </a:r>
          </a:p>
          <a:p>
            <a:r>
              <a:rPr lang="en-US"/>
              <a:t>Research suggests that reduced CBF in specific brain regions could serve as an early biomarker for Alzheimer’s, making ASL a promising tool for classification models.</a:t>
            </a:r>
          </a:p>
          <a:p>
            <a:r>
              <a:rPr lang="en-US"/>
              <a:t/>
            </a:r>
          </a:p>
          <a:p>
            <a:r>
              <a:rPr lang="en-US"/>
              <a:t>My goal was to build a machine learning model that predicts Alzheimer’s diagnosis using cerebral blood flow metrics from ASL MRI scans, alongside clinical and demographic data. </a:t>
            </a:r>
          </a:p>
          <a:p>
            <a:r>
              <a:rPr lang="en-US"/>
              <a:t/>
            </a:r>
          </a:p>
          <a:p>
            <a:r>
              <a:rPr lang="en-US"/>
              <a:t/>
            </a:r>
          </a:p>
          <a:p>
            <a:r>
              <a:rPr lang="en-US"/>
              <a:t/>
            </a:r>
          </a:p>
          <a:p>
            <a:r>
              <a:rPr lang="en-US"/>
              <a:t>----</a:t>
            </a:r>
          </a:p>
          <a:p>
            <a:r>
              <a:rPr lang="en-US"/>
              <a:t/>
            </a:r>
          </a:p>
          <a:p>
            <a:r>
              <a:rPr lang="en-US"/>
              <a:t>Cerebral hypoperfusion, or reduced blood flow to the brain, is a significant feature in Alzheimer's disease (AD), particularly in the early stages. Studies have shown that hypoperfusion can precede neurodegeneration and may contribute to the development of cognitive decline. </a:t>
            </a:r>
          </a:p>
          <a:p>
            <a:r>
              <a:rPr lang="en-US"/>
              <a:t/>
            </a:r>
          </a:p>
          <a:p>
            <a:r>
              <a:rPr lang="en-US"/>
              <a:t>Arterial Spin Labeling (ASL) is a Magnetic Resonance Imaging (MRI) technique used to measure cerebral blood flow (CBF) and tissue perfusion without the need for an exogenous contrast agent. It works by tagging water molecules in the arterial blood with a magnetic label and then tracking their movement as they flow into the brain tissue.</a:t>
            </a:r>
          </a:p>
          <a:p>
            <a:r>
              <a:rPr lang="en-US"/>
              <a:t/>
            </a:r>
          </a:p>
          <a:p>
            <a:r>
              <a:rPr lang="en-US"/>
              <a:t>ASL involves using radiofrequency (RF) pulses to "label" or tag the water molecules in the arterial blood, essentially making them distinguishable from the water molecules in the tissue. The tagged blood is then allowed to flow into the brain tissue, and the MRI machine detects the tagged water molecules, allowing for the measurement of CBF.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used data from the Alzheimers Disease Neuroimaging database, focusing on subjects with 3T ASL MRI scans. </a:t>
            </a:r>
          </a:p>
          <a:p>
            <a:r>
              <a:rPr lang="en-US"/>
              <a:t/>
            </a:r>
          </a:p>
          <a:p>
            <a:r>
              <a:rPr lang="en-US"/>
              <a:t>I pulled four types of features:</a:t>
            </a:r>
          </a:p>
          <a:p>
            <a:r>
              <a:rPr lang="en-US"/>
              <a:t>- Demographic (like age and education),</a:t>
            </a:r>
          </a:p>
          <a:p>
            <a:r>
              <a:rPr lang="en-US"/>
              <a:t>- Clinical (like APOE status),</a:t>
            </a:r>
          </a:p>
          <a:p>
            <a:r>
              <a:rPr lang="en-US"/>
              <a:t>- Cognitive scores (MMSE, CDR-SB, etc.),</a:t>
            </a:r>
          </a:p>
          <a:p>
            <a:r>
              <a:rPr lang="en-US"/>
              <a:t>- ASL-derived perfusion values for 130 brain regions.</a:t>
            </a:r>
          </a:p>
          <a:p>
            <a:r>
              <a:rPr lang="en-US"/>
              <a:t/>
            </a:r>
          </a:p>
          <a:p>
            <a:r>
              <a:rPr lang="en-US"/>
              <a:t>The final dataset included 666 individuals classified as cognitively normal, Mild Cognitively Impaired or MCI, or AD or Alzheimer’s.</a:t>
            </a:r>
          </a:p>
          <a:p>
            <a:r>
              <a:rPr lang="en-US"/>
              <a:t/>
            </a:r>
          </a:p>
          <a:p>
            <a:r>
              <a:rPr lang="en-US"/>
              <a:t>To prevent data leakage, I did a group-aware split to make sure that patients with multiple MRIs were put into either the training or the testing set. </a:t>
            </a:r>
          </a:p>
          <a:p>
            <a:r>
              <a:rPr lang="en-US"/>
              <a:t/>
            </a:r>
          </a:p>
          <a:p>
            <a:r>
              <a:rPr lang="en-US"/>
              <a:t>During feature engineering, I imputed null values, scaled numerical features and did one hot encoding for categorical features.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then trained six different models using group cross validation and I moved forward with only the top 3 models, Random Forest, Gradient Boosting and XGBoost.</a:t>
            </a:r>
          </a:p>
          <a:p>
            <a:r>
              <a:rPr lang="en-US"/>
              <a:t/>
            </a:r>
          </a:p>
          <a:p>
            <a:r>
              <a:rPr lang="en-US"/>
              <a:t>After the initial training, I saw that performance was lower for the AD class, potentially because of the the underrepresentation of this class in the training set. I used SMOTE to oversample the minority classes and thenused random search to optimize hyperparameters.</a:t>
            </a:r>
          </a:p>
          <a:p>
            <a:r>
              <a:rPr lang="en-US"/>
              <a:t/>
            </a:r>
          </a:p>
          <a:p>
            <a:r>
              <a:rPr lang="en-US"/>
              <a:t>During the evaluation on the test set, I also generated learning curves to visualize the model performance as it saw more training data and look for overfitting or underfitting. Then I did feature importance and SHAP analysis to understand my model predictions.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hyperparameter tuning, my top performing model was Random Forest. While F1 scores for the normal and MCI classes were higher in the other two models, I chose Random Forest because it had the highest F1 score for the AD class while still maintaining good metrics for the other two classes. </a:t>
            </a:r>
          </a:p>
          <a:p>
            <a:r>
              <a:rPr lang="en-US"/>
              <a:t/>
            </a:r>
          </a:p>
          <a:p>
            <a:r>
              <a:rPr lang="en-US"/>
              <a:t>Looking at the confusion matrix, it seems like the model had some dififculty distinguishing between MCI and AD - this may be because diagnosis of a patient is based on cognitive function and ability to care for themselves (ADL)</a:t>
            </a:r>
          </a:p>
          <a:p>
            <a:r>
              <a:rPr lang="en-US"/>
              <a:t>- boundary between MCI and AD is not clear because can be more subjective</a:t>
            </a:r>
          </a:p>
          <a:p>
            <a:r>
              <a:rPr lang="en-US"/>
              <a:t/>
            </a:r>
          </a:p>
          <a:p>
            <a:r>
              <a:rPr lang="en-US"/>
              <a:t>---</a:t>
            </a:r>
          </a:p>
          <a:p>
            <a:r>
              <a:rPr lang="en-US"/>
              <a:t>model__n_estimators: 100</a:t>
            </a:r>
          </a:p>
          <a:p>
            <a:r>
              <a:rPr lang="en-US"/>
              <a:t>→ The number of trees in the forest. More trees generally improve performance up to a point.</a:t>
            </a:r>
          </a:p>
          <a:p>
            <a:r>
              <a:rPr lang="en-US"/>
              <a:t/>
            </a:r>
          </a:p>
          <a:p>
            <a:r>
              <a:rPr lang="en-US"/>
              <a:t>model__min_samples_split: 5</a:t>
            </a:r>
          </a:p>
          <a:p>
            <a:r>
              <a:rPr lang="en-US"/>
              <a:t>→ The minimum number of samples required to split an internal node. Setting this higher can help reduce overfitting by making the tree more conservative.</a:t>
            </a:r>
          </a:p>
          <a:p>
            <a:r>
              <a:rPr lang="en-US"/>
              <a:t/>
            </a:r>
          </a:p>
          <a:p>
            <a:r>
              <a:rPr lang="en-US"/>
              <a:t>model__min_samples_leaf: 1</a:t>
            </a:r>
          </a:p>
          <a:p>
            <a:r>
              <a:rPr lang="en-US"/>
              <a:t>→ The minimum number of samples required to be at a leaf node. A value of 1 means that a leaf node can represent a single sample, which can lead to very fine splits.</a:t>
            </a:r>
          </a:p>
          <a:p>
            <a:r>
              <a:rPr lang="en-US"/>
              <a:t/>
            </a:r>
          </a:p>
          <a:p>
            <a:r>
              <a:rPr lang="en-US"/>
              <a:t>model__max_depth: 20</a:t>
            </a:r>
          </a:p>
          <a:p>
            <a:r>
              <a:rPr lang="en-US"/>
              <a:t>→ The maximum depth of the tree. This limits how deep each individual tree can grow, helping to control overfitting.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Looking at feature importance and the SHAP analysis, cognitive scores—especially CDRSB, FAQ, MMSE, and ADAS11—were top predictors. Importantly, several ASL perfusion features also ranked in the top 20, particularly in regions linked to memory and temporal processing.</a:t>
            </a:r>
          </a:p>
          <a:p>
            <a:r>
              <a:rPr lang="en-US"/>
              <a:t/>
            </a:r>
          </a:p>
          <a:p>
            <a:r>
              <a:rPr lang="en-US"/>
              <a:t>This suggests that cerebral blood flow patterns hold diagnostic value, complementing traditional cognitive assessments.</a:t>
            </a:r>
          </a:p>
          <a:p>
            <a:r>
              <a:rPr lang="en-US"/>
              <a:t>------</a:t>
            </a:r>
          </a:p>
          <a:p>
            <a:r>
              <a:rPr lang="en-US"/>
              <a:t/>
            </a:r>
          </a:p>
          <a:p>
            <a:r>
              <a:rPr lang="en-US"/>
              <a:t>FAQ = functional activities questionnaire </a:t>
            </a:r>
          </a:p>
          <a:p>
            <a:r>
              <a:rPr lang="en-US"/>
              <a:t/>
            </a:r>
          </a:p>
          <a:p>
            <a:r>
              <a:rPr lang="en-US"/>
              <a:t>ADAS = alzheimer's disease assessment scale </a:t>
            </a:r>
          </a:p>
          <a:p>
            <a:r>
              <a:rPr lang="en-US"/>
              <a:t/>
            </a:r>
          </a:p>
          <a:p>
            <a:r>
              <a:rPr lang="en-US"/>
              <a:t>Ecog = everyday cognition </a:t>
            </a:r>
          </a:p>
          <a:p>
            <a:r>
              <a:rPr lang="en-US"/>
              <a:t/>
            </a:r>
          </a:p>
          <a:p>
            <a:r>
              <a:rPr lang="en-US"/>
              <a:t>MMSE = mini mental state exam </a:t>
            </a:r>
          </a:p>
          <a:p>
            <a:r>
              <a:rPr lang="en-US"/>
              <a:t/>
            </a:r>
          </a:p>
          <a:p>
            <a:r>
              <a:rPr lang="en-US"/>
              <a:t>CDRSB = clinical dementia rating </a:t>
            </a:r>
          </a:p>
          <a:p>
            <a:r>
              <a:rPr lang="en-US"/>
              <a:t/>
            </a:r>
          </a:p>
          <a:p>
            <a:r>
              <a:rPr lang="en-US"/>
              <a:t>MOCA = montreal cognitive assessment </a:t>
            </a:r>
          </a:p>
          <a:p>
            <a:r>
              <a:rPr lang="en-US"/>
              <a:t/>
            </a:r>
          </a:p>
          <a:p>
            <a:r>
              <a:rPr lang="en-US"/>
              <a:t>LDEL = logical memory delayed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summarize, the top predictive features were mostly cognitive scores, although perfusion metrics also ranked in the top 20 and suggest that CBF patterns in regions around the hippocampus carry predictive value.</a:t>
            </a:r>
          </a:p>
          <a:p>
            <a:r>
              <a:rPr lang="en-US"/>
              <a:t/>
            </a:r>
          </a:p>
          <a:p>
            <a:r>
              <a:rPr lang="en-US"/>
              <a:t>One limitation was lower recall for the AD class—likely due to class imbalance. Future work could explore larger datasets. Another approach I'd like to explore is a voxel-wise CNN to capture more spatial information.</a:t>
            </a:r>
          </a:p>
          <a:p>
            <a:r>
              <a:rPr lang="en-US"/>
              <a:t/>
            </a:r>
          </a:p>
          <a:p>
            <a:r>
              <a:rPr lang="en-US"/>
              <a:t>Clinically, this model highlights the importance of looking at regional perfusion patters and could be used to triage patients and determine which need further evaluation that could be more costly or invasive. The model's interpretability also supports its potential use in decision-support systems and would give clinicians more insight into how predictions are made.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48424" y="3130717"/>
            <a:ext cx="8990783" cy="4455158"/>
          </a:xfrm>
          <a:prstGeom prst="rect">
            <a:avLst/>
          </a:prstGeom>
        </p:spPr>
        <p:txBody>
          <a:bodyPr anchor="t" rtlCol="false" tIns="0" lIns="0" bIns="0" rIns="0">
            <a:spAutoFit/>
          </a:bodyPr>
          <a:lstStyle/>
          <a:p>
            <a:pPr algn="l">
              <a:lnSpc>
                <a:spcPts val="8719"/>
              </a:lnSpc>
            </a:pPr>
            <a:r>
              <a:rPr lang="en-US" sz="7999" spc="-199">
                <a:solidFill>
                  <a:srgbClr val="1D4355"/>
                </a:solidFill>
                <a:latin typeface="Poppins Bold"/>
                <a:ea typeface="Poppins Bold"/>
                <a:cs typeface="Poppins Bold"/>
                <a:sym typeface="Poppins Bold"/>
              </a:rPr>
              <a:t>Predicting</a:t>
            </a:r>
            <a:r>
              <a:rPr lang="en-US" b="true" sz="7999" spc="-199">
                <a:solidFill>
                  <a:srgbClr val="1D4355"/>
                </a:solidFill>
                <a:latin typeface="Poppins Bold"/>
                <a:ea typeface="Poppins Bold"/>
                <a:cs typeface="Poppins Bold"/>
                <a:sym typeface="Poppins Bold"/>
              </a:rPr>
              <a:t> </a:t>
            </a:r>
            <a:r>
              <a:rPr lang="en-US" b="true" sz="7999" spc="-199">
                <a:solidFill>
                  <a:srgbClr val="5789A2"/>
                </a:solidFill>
                <a:latin typeface="Poppins Bold"/>
                <a:ea typeface="Poppins Bold"/>
                <a:cs typeface="Poppins Bold"/>
                <a:sym typeface="Poppins Bold"/>
              </a:rPr>
              <a:t>Alzheimer’s Diagnosis </a:t>
            </a:r>
            <a:r>
              <a:rPr lang="en-US" b="true" sz="7999" spc="-199">
                <a:solidFill>
                  <a:srgbClr val="1D4355"/>
                </a:solidFill>
                <a:latin typeface="Poppins Bold"/>
                <a:ea typeface="Poppins Bold"/>
                <a:cs typeface="Poppins Bold"/>
                <a:sym typeface="Poppins Bold"/>
              </a:rPr>
              <a:t>from Perfusion MRI</a:t>
            </a:r>
          </a:p>
        </p:txBody>
      </p:sp>
      <p:sp>
        <p:nvSpPr>
          <p:cNvPr name="TextBox 3" id="3"/>
          <p:cNvSpPr txBox="true"/>
          <p:nvPr/>
        </p:nvSpPr>
        <p:spPr>
          <a:xfrm rot="0">
            <a:off x="848424" y="8693336"/>
            <a:ext cx="8266648" cy="328024"/>
          </a:xfrm>
          <a:prstGeom prst="rect">
            <a:avLst/>
          </a:prstGeom>
        </p:spPr>
        <p:txBody>
          <a:bodyPr anchor="t" rtlCol="false" tIns="0" lIns="0" bIns="0" rIns="0">
            <a:spAutoFit/>
          </a:bodyPr>
          <a:lstStyle/>
          <a:p>
            <a:pPr algn="l">
              <a:lnSpc>
                <a:spcPts val="2414"/>
              </a:lnSpc>
            </a:pPr>
            <a:r>
              <a:rPr lang="en-US" b="true" sz="2414">
                <a:solidFill>
                  <a:srgbClr val="365B6D"/>
                </a:solidFill>
                <a:latin typeface="Poppins Bold"/>
                <a:ea typeface="Poppins Bold"/>
                <a:cs typeface="Poppins Bold"/>
                <a:sym typeface="Poppins Bold"/>
              </a:rPr>
              <a:t>Stephanie Araki</a:t>
            </a:r>
          </a:p>
        </p:txBody>
      </p:sp>
      <p:sp>
        <p:nvSpPr>
          <p:cNvPr name="TextBox 4" id="4"/>
          <p:cNvSpPr txBox="true"/>
          <p:nvPr/>
        </p:nvSpPr>
        <p:spPr>
          <a:xfrm rot="0">
            <a:off x="848424" y="2004047"/>
            <a:ext cx="7838137" cy="307441"/>
          </a:xfrm>
          <a:prstGeom prst="rect">
            <a:avLst/>
          </a:prstGeom>
        </p:spPr>
        <p:txBody>
          <a:bodyPr anchor="t" rtlCol="false" tIns="0" lIns="0" bIns="0" rIns="0">
            <a:spAutoFit/>
          </a:bodyPr>
          <a:lstStyle/>
          <a:p>
            <a:pPr algn="l">
              <a:lnSpc>
                <a:spcPts val="2353"/>
              </a:lnSpc>
            </a:pPr>
            <a:r>
              <a:rPr lang="en-US" sz="2353" spc="58">
                <a:solidFill>
                  <a:srgbClr val="365B6D"/>
                </a:solidFill>
                <a:latin typeface="Poppins Light"/>
                <a:ea typeface="Poppins Light"/>
                <a:cs typeface="Poppins Light"/>
                <a:sym typeface="Poppins Light"/>
              </a:rPr>
              <a:t>HIDS-7006 AI for Health Applications | Spring 2025</a:t>
            </a:r>
          </a:p>
        </p:txBody>
      </p:sp>
      <p:sp>
        <p:nvSpPr>
          <p:cNvPr name="TextBox 5" id="5"/>
          <p:cNvSpPr txBox="true"/>
          <p:nvPr/>
        </p:nvSpPr>
        <p:spPr>
          <a:xfrm rot="0">
            <a:off x="848424" y="9059460"/>
            <a:ext cx="7525513" cy="328024"/>
          </a:xfrm>
          <a:prstGeom prst="rect">
            <a:avLst/>
          </a:prstGeom>
        </p:spPr>
        <p:txBody>
          <a:bodyPr anchor="t" rtlCol="false" tIns="0" lIns="0" bIns="0" rIns="0">
            <a:spAutoFit/>
          </a:bodyPr>
          <a:lstStyle/>
          <a:p>
            <a:pPr algn="l">
              <a:lnSpc>
                <a:spcPts val="2414"/>
              </a:lnSpc>
            </a:pPr>
            <a:r>
              <a:rPr lang="en-US" sz="2414" spc="60">
                <a:solidFill>
                  <a:srgbClr val="365B6D"/>
                </a:solidFill>
                <a:latin typeface="Poppins Light"/>
                <a:ea typeface="Poppins Light"/>
                <a:cs typeface="Poppins Light"/>
                <a:sym typeface="Poppins Light"/>
              </a:rPr>
              <a:t>Health Informatics &amp; Data Science</a:t>
            </a:r>
          </a:p>
        </p:txBody>
      </p:sp>
      <p:grpSp>
        <p:nvGrpSpPr>
          <p:cNvPr name="Group 6" id="6"/>
          <p:cNvGrpSpPr/>
          <p:nvPr/>
        </p:nvGrpSpPr>
        <p:grpSpPr>
          <a:xfrm rot="0">
            <a:off x="14457218" y="2518114"/>
            <a:ext cx="2802082" cy="280208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1E1"/>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9839207" y="3054517"/>
            <a:ext cx="7787771" cy="7524933"/>
          </a:xfrm>
          <a:custGeom>
            <a:avLst/>
            <a:gdLst/>
            <a:ahLst/>
            <a:cxnLst/>
            <a:rect r="r" b="b" t="t" l="l"/>
            <a:pathLst>
              <a:path h="7524933" w="7787771">
                <a:moveTo>
                  <a:pt x="0" y="0"/>
                </a:moveTo>
                <a:lnTo>
                  <a:pt x="7787771" y="0"/>
                </a:lnTo>
                <a:lnTo>
                  <a:pt x="7787771" y="7524934"/>
                </a:lnTo>
                <a:lnTo>
                  <a:pt x="0" y="7524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0" id="10"/>
          <p:cNvSpPr/>
          <p:nvPr/>
        </p:nvSpPr>
        <p:spPr>
          <a:xfrm>
            <a:off x="10234300" y="1415576"/>
            <a:ext cx="8053700" cy="0"/>
          </a:xfrm>
          <a:prstGeom prst="line">
            <a:avLst/>
          </a:prstGeom>
          <a:ln cap="flat" w="76200">
            <a:solidFill>
              <a:srgbClr val="365B6D"/>
            </a:solidFill>
            <a:prstDash val="solid"/>
            <a:headEnd type="oval" len="lg" w="lg"/>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85287" y="7794186"/>
            <a:ext cx="1449826" cy="0"/>
          </a:xfrm>
          <a:prstGeom prst="line">
            <a:avLst/>
          </a:prstGeom>
          <a:ln cap="flat" w="95250">
            <a:solidFill>
              <a:srgbClr val="365B6D"/>
            </a:solidFill>
            <a:prstDash val="solid"/>
            <a:headEnd type="triangle" len="med" w="lg"/>
            <a:tailEnd type="none" len="sm" w="sm"/>
          </a:ln>
        </p:spPr>
      </p:sp>
      <p:sp>
        <p:nvSpPr>
          <p:cNvPr name="Freeform 3" id="3"/>
          <p:cNvSpPr/>
          <p:nvPr/>
        </p:nvSpPr>
        <p:spPr>
          <a:xfrm flipH="false" flipV="false" rot="0">
            <a:off x="10504532" y="4064057"/>
            <a:ext cx="7560986" cy="5841857"/>
          </a:xfrm>
          <a:custGeom>
            <a:avLst/>
            <a:gdLst/>
            <a:ahLst/>
            <a:cxnLst/>
            <a:rect r="r" b="b" t="t" l="l"/>
            <a:pathLst>
              <a:path h="5841857" w="7560986">
                <a:moveTo>
                  <a:pt x="0" y="0"/>
                </a:moveTo>
                <a:lnTo>
                  <a:pt x="7560987" y="0"/>
                </a:lnTo>
                <a:lnTo>
                  <a:pt x="7560987" y="5841857"/>
                </a:lnTo>
                <a:lnTo>
                  <a:pt x="0" y="5841857"/>
                </a:lnTo>
                <a:lnTo>
                  <a:pt x="0" y="0"/>
                </a:lnTo>
                <a:close/>
              </a:path>
            </a:pathLst>
          </a:custGeom>
          <a:blipFill>
            <a:blip r:embed="rId3"/>
            <a:stretch>
              <a:fillRect l="0" t="0" r="0" b="0"/>
            </a:stretch>
          </a:blipFill>
        </p:spPr>
      </p:sp>
      <p:grpSp>
        <p:nvGrpSpPr>
          <p:cNvPr name="Group 4" id="4"/>
          <p:cNvGrpSpPr/>
          <p:nvPr/>
        </p:nvGrpSpPr>
        <p:grpSpPr>
          <a:xfrm rot="0">
            <a:off x="1718084" y="6234823"/>
            <a:ext cx="7277214" cy="3023477"/>
            <a:chOff x="0" y="0"/>
            <a:chExt cx="1916632" cy="796307"/>
          </a:xfrm>
        </p:grpSpPr>
        <p:sp>
          <p:nvSpPr>
            <p:cNvPr name="Freeform 5" id="5"/>
            <p:cNvSpPr/>
            <p:nvPr/>
          </p:nvSpPr>
          <p:spPr>
            <a:xfrm flipH="false" flipV="false" rot="0">
              <a:off x="0" y="0"/>
              <a:ext cx="1916632" cy="796307"/>
            </a:xfrm>
            <a:custGeom>
              <a:avLst/>
              <a:gdLst/>
              <a:ahLst/>
              <a:cxnLst/>
              <a:rect r="r" b="b" t="t" l="l"/>
              <a:pathLst>
                <a:path h="796307" w="1916632">
                  <a:moveTo>
                    <a:pt x="54257" y="0"/>
                  </a:moveTo>
                  <a:lnTo>
                    <a:pt x="1862376" y="0"/>
                  </a:lnTo>
                  <a:cubicBezTo>
                    <a:pt x="1892341" y="0"/>
                    <a:pt x="1916632" y="24292"/>
                    <a:pt x="1916632" y="54257"/>
                  </a:cubicBezTo>
                  <a:lnTo>
                    <a:pt x="1916632" y="742050"/>
                  </a:lnTo>
                  <a:cubicBezTo>
                    <a:pt x="1916632" y="756440"/>
                    <a:pt x="1910916" y="770240"/>
                    <a:pt x="1900741" y="780415"/>
                  </a:cubicBezTo>
                  <a:cubicBezTo>
                    <a:pt x="1890566" y="790590"/>
                    <a:pt x="1876765" y="796307"/>
                    <a:pt x="1862376" y="796307"/>
                  </a:cubicBezTo>
                  <a:lnTo>
                    <a:pt x="54257" y="796307"/>
                  </a:lnTo>
                  <a:cubicBezTo>
                    <a:pt x="24292" y="796307"/>
                    <a:pt x="0" y="772015"/>
                    <a:pt x="0" y="742050"/>
                  </a:cubicBezTo>
                  <a:lnTo>
                    <a:pt x="0" y="54257"/>
                  </a:lnTo>
                  <a:cubicBezTo>
                    <a:pt x="0" y="24292"/>
                    <a:pt x="24292" y="0"/>
                    <a:pt x="54257" y="0"/>
                  </a:cubicBezTo>
                  <a:close/>
                </a:path>
              </a:pathLst>
            </a:custGeom>
            <a:solidFill>
              <a:srgbClr val="5789A2"/>
            </a:solidFill>
          </p:spPr>
        </p:sp>
        <p:sp>
          <p:nvSpPr>
            <p:cNvPr name="TextBox 6" id="6"/>
            <p:cNvSpPr txBox="true"/>
            <p:nvPr/>
          </p:nvSpPr>
          <p:spPr>
            <a:xfrm>
              <a:off x="0" y="-161925"/>
              <a:ext cx="1916632" cy="958232"/>
            </a:xfrm>
            <a:prstGeom prst="rect">
              <a:avLst/>
            </a:prstGeom>
          </p:spPr>
          <p:txBody>
            <a:bodyPr anchor="t" rtlCol="false" tIns="50800" lIns="50800" bIns="50800" rIns="50800"/>
            <a:lstStyle/>
            <a:p>
              <a:pPr algn="ctr">
                <a:lnSpc>
                  <a:spcPts val="7840"/>
                </a:lnSpc>
              </a:pPr>
              <a:r>
                <a:rPr lang="en-US" b="true" sz="5600" spc="140">
                  <a:solidFill>
                    <a:srgbClr val="FFFFFF"/>
                  </a:solidFill>
                  <a:latin typeface="Poppins Semi-Bold"/>
                  <a:ea typeface="Poppins Semi-Bold"/>
                  <a:cs typeface="Poppins Semi-Bold"/>
                  <a:sym typeface="Poppins Semi-Bold"/>
                </a:rPr>
                <a:t>GOAL:</a:t>
              </a:r>
            </a:p>
            <a:p>
              <a:pPr algn="ctr">
                <a:lnSpc>
                  <a:spcPts val="3359"/>
                </a:lnSpc>
              </a:pPr>
              <a:r>
                <a:rPr lang="en-US" b="true" sz="2400" spc="60">
                  <a:solidFill>
                    <a:srgbClr val="FFFFFF"/>
                  </a:solidFill>
                  <a:latin typeface="Poppins Semi-Bold"/>
                  <a:ea typeface="Poppins Semi-Bold"/>
                  <a:cs typeface="Poppins Semi-Bold"/>
                  <a:sym typeface="Poppins Semi-Bold"/>
                </a:rPr>
                <a:t>Develop a ML model to support early-stage diagnosis using a non-invasive MRI technique</a:t>
              </a:r>
            </a:p>
          </p:txBody>
        </p:sp>
      </p:grpSp>
      <p:sp>
        <p:nvSpPr>
          <p:cNvPr name="TextBox 7" id="7"/>
          <p:cNvSpPr txBox="true"/>
          <p:nvPr/>
        </p:nvSpPr>
        <p:spPr>
          <a:xfrm rot="0">
            <a:off x="185287" y="1973198"/>
            <a:ext cx="17620020" cy="2260567"/>
          </a:xfrm>
          <a:prstGeom prst="rect">
            <a:avLst/>
          </a:prstGeom>
        </p:spPr>
        <p:txBody>
          <a:bodyPr anchor="t" rtlCol="false" tIns="0" lIns="0" bIns="0" rIns="0">
            <a:spAutoFit/>
          </a:bodyPr>
          <a:lstStyle/>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Need for non-invasive methods for early detection of </a:t>
            </a:r>
            <a:r>
              <a:rPr lang="en-US" sz="3251" spc="81">
                <a:solidFill>
                  <a:srgbClr val="5789A2"/>
                </a:solidFill>
                <a:latin typeface="Poppins Light"/>
                <a:ea typeface="Poppins Light"/>
                <a:cs typeface="Poppins Light"/>
                <a:sym typeface="Poppins Light"/>
              </a:rPr>
              <a:t>Alzheimer’s disease (AD)</a:t>
            </a:r>
          </a:p>
          <a:p>
            <a:pPr algn="l">
              <a:lnSpc>
                <a:spcPts val="4551"/>
              </a:lnSpc>
            </a:pPr>
          </a:p>
          <a:p>
            <a:pPr algn="l" marL="701951" indent="-350976" lvl="1">
              <a:lnSpc>
                <a:spcPts val="4551"/>
              </a:lnSpc>
              <a:buFont typeface="Arial"/>
              <a:buChar char="•"/>
            </a:pPr>
            <a:r>
              <a:rPr lang="en-US" sz="3251" spc="81">
                <a:solidFill>
                  <a:srgbClr val="5789A2"/>
                </a:solidFill>
                <a:latin typeface="Poppins Light"/>
                <a:ea typeface="Poppins Light"/>
                <a:cs typeface="Poppins Light"/>
                <a:sym typeface="Poppins Light"/>
              </a:rPr>
              <a:t>Arterial Spin Labeling (ASL)</a:t>
            </a:r>
            <a:r>
              <a:rPr lang="en-US" sz="3251" spc="81">
                <a:solidFill>
                  <a:srgbClr val="000000"/>
                </a:solidFill>
                <a:latin typeface="Poppins Light"/>
                <a:ea typeface="Poppins Light"/>
                <a:cs typeface="Poppins Light"/>
                <a:sym typeface="Poppins Light"/>
              </a:rPr>
              <a:t>: a non-contrast MRI technique for measuring </a:t>
            </a:r>
            <a:r>
              <a:rPr lang="en-US" sz="3251" spc="81">
                <a:solidFill>
                  <a:srgbClr val="5789A2"/>
                </a:solidFill>
                <a:latin typeface="Poppins Light"/>
                <a:ea typeface="Poppins Light"/>
                <a:cs typeface="Poppins Light"/>
                <a:sym typeface="Poppins Light"/>
              </a:rPr>
              <a:t>cerebral blood flow (CBF)</a:t>
            </a:r>
            <a:r>
              <a:rPr lang="en-US" sz="3251" spc="81">
                <a:solidFill>
                  <a:srgbClr val="000000"/>
                </a:solidFill>
                <a:latin typeface="Poppins Light"/>
                <a:ea typeface="Poppins Light"/>
                <a:cs typeface="Poppins Light"/>
                <a:sym typeface="Poppins Light"/>
              </a:rPr>
              <a:t>[1]</a:t>
            </a:r>
          </a:p>
        </p:txBody>
      </p:sp>
      <p:sp>
        <p:nvSpPr>
          <p:cNvPr name="TextBox 8" id="8"/>
          <p:cNvSpPr txBox="true"/>
          <p:nvPr/>
        </p:nvSpPr>
        <p:spPr>
          <a:xfrm rot="0">
            <a:off x="335131" y="702637"/>
            <a:ext cx="14193870" cy="999491"/>
          </a:xfrm>
          <a:prstGeom prst="rect">
            <a:avLst/>
          </a:prstGeom>
        </p:spPr>
        <p:txBody>
          <a:bodyPr anchor="t" rtlCol="false" tIns="0" lIns="0" bIns="0" rIns="0">
            <a:spAutoFit/>
          </a:bodyPr>
          <a:lstStyle/>
          <a:p>
            <a:pPr algn="l">
              <a:lnSpc>
                <a:spcPts val="7280"/>
              </a:lnSpc>
            </a:pPr>
            <a:r>
              <a:rPr lang="en-US" sz="8000" spc="-200">
                <a:solidFill>
                  <a:srgbClr val="1D4355"/>
                </a:solidFill>
                <a:latin typeface="Poppins Bold"/>
                <a:ea typeface="Poppins Bold"/>
                <a:cs typeface="Poppins Bold"/>
                <a:sym typeface="Poppins Bold"/>
              </a:rPr>
              <a:t>Background &amp; Significance</a:t>
            </a:r>
          </a:p>
        </p:txBody>
      </p:sp>
      <p:sp>
        <p:nvSpPr>
          <p:cNvPr name="TextBox 9" id="9"/>
          <p:cNvSpPr txBox="true"/>
          <p:nvPr/>
        </p:nvSpPr>
        <p:spPr>
          <a:xfrm rot="0">
            <a:off x="185287" y="4709436"/>
            <a:ext cx="9814902" cy="1117567"/>
          </a:xfrm>
          <a:prstGeom prst="rect">
            <a:avLst/>
          </a:prstGeom>
        </p:spPr>
        <p:txBody>
          <a:bodyPr anchor="t" rtlCol="false" tIns="0" lIns="0" bIns="0" rIns="0">
            <a:spAutoFit/>
          </a:bodyPr>
          <a:lstStyle/>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CBF alterations could s</a:t>
            </a:r>
            <a:r>
              <a:rPr lang="en-US" sz="3251" spc="81">
                <a:solidFill>
                  <a:srgbClr val="000000"/>
                </a:solidFill>
                <a:latin typeface="Poppins Light"/>
                <a:ea typeface="Poppins Light"/>
                <a:cs typeface="Poppins Light"/>
                <a:sym typeface="Poppins Light"/>
              </a:rPr>
              <a:t>erve as a potential biomarker for disease classification</a:t>
            </a:r>
            <a:r>
              <a:rPr lang="en-US" sz="3251" spc="81">
                <a:solidFill>
                  <a:srgbClr val="000000"/>
                </a:solidFill>
                <a:latin typeface="Poppins Light"/>
                <a:ea typeface="Poppins Light"/>
                <a:cs typeface="Poppins Light"/>
                <a:sym typeface="Poppins Light"/>
              </a:rPr>
              <a:t>[2]</a:t>
            </a:r>
          </a:p>
        </p:txBody>
      </p:sp>
      <p:sp>
        <p:nvSpPr>
          <p:cNvPr name="TextBox 10" id="10"/>
          <p:cNvSpPr txBox="true"/>
          <p:nvPr/>
        </p:nvSpPr>
        <p:spPr>
          <a:xfrm rot="0">
            <a:off x="56767" y="9995535"/>
            <a:ext cx="16187142" cy="291465"/>
          </a:xfrm>
          <a:prstGeom prst="rect">
            <a:avLst/>
          </a:prstGeom>
        </p:spPr>
        <p:txBody>
          <a:bodyPr anchor="t" rtlCol="false" tIns="0" lIns="0" bIns="0" rIns="0">
            <a:spAutoFit/>
          </a:bodyPr>
          <a:lstStyle/>
          <a:p>
            <a:pPr algn="l">
              <a:lnSpc>
                <a:spcPts val="1260"/>
              </a:lnSpc>
            </a:pPr>
            <a:r>
              <a:rPr lang="en-US" sz="900" spc="22">
                <a:solidFill>
                  <a:srgbClr val="000000"/>
                </a:solidFill>
                <a:latin typeface="Poppins Light"/>
                <a:ea typeface="Poppins Light"/>
                <a:cs typeface="Poppins Light"/>
                <a:sym typeface="Poppins Light"/>
              </a:rPr>
              <a:t>[1] Arterial Spin Labeling - an overview | ScienceDirect Topics. (n.d.). Retrieved April 23, 2025, from https://www.sciencedirect.com/topics/medicine-and-dentistry/arterial-spin-labeling</a:t>
            </a:r>
          </a:p>
          <a:p>
            <a:pPr algn="l">
              <a:lnSpc>
                <a:spcPts val="1260"/>
              </a:lnSpc>
              <a:spcBef>
                <a:spcPct val="0"/>
              </a:spcBef>
            </a:pPr>
            <a:r>
              <a:rPr lang="en-US" sz="900" spc="22">
                <a:solidFill>
                  <a:srgbClr val="000000"/>
                </a:solidFill>
                <a:latin typeface="Poppins Light"/>
                <a:ea typeface="Poppins Light"/>
                <a:cs typeface="Poppins Light"/>
                <a:sym typeface="Poppins Light"/>
              </a:rPr>
              <a:t>[2] </a:t>
            </a:r>
            <a:r>
              <a:rPr lang="en-US" sz="900" spc="22">
                <a:solidFill>
                  <a:srgbClr val="000000"/>
                </a:solidFill>
                <a:latin typeface="Poppins Light"/>
                <a:ea typeface="Poppins Light"/>
                <a:cs typeface="Poppins Light"/>
                <a:sym typeface="Poppins Light"/>
              </a:rPr>
              <a:t>Alsop, D. C., Dai, W., Grossman, M., &amp; Detre, J. A. (2010). Arterial spin labeling blood flow MRI: Its Role in the early characterization of Alzheimer’s disease. Journal of Alzheimer’s Disease, 20(3), 871–880. https://doi.org/10.3233/JAD-2010-091699;PAGE:STRING:ARTICLE/CHAPTER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61364" y="1851205"/>
            <a:ext cx="4975196" cy="7870646"/>
            <a:chOff x="0" y="0"/>
            <a:chExt cx="1116902" cy="1766913"/>
          </a:xfrm>
        </p:grpSpPr>
        <p:sp>
          <p:nvSpPr>
            <p:cNvPr name="Freeform 3" id="3"/>
            <p:cNvSpPr/>
            <p:nvPr/>
          </p:nvSpPr>
          <p:spPr>
            <a:xfrm flipH="false" flipV="false" rot="0">
              <a:off x="0" y="0"/>
              <a:ext cx="1116902" cy="1766913"/>
            </a:xfrm>
            <a:custGeom>
              <a:avLst/>
              <a:gdLst/>
              <a:ahLst/>
              <a:cxnLst/>
              <a:rect r="r" b="b" t="t" l="l"/>
              <a:pathLst>
                <a:path h="1766913" w="1116902">
                  <a:moveTo>
                    <a:pt x="0" y="0"/>
                  </a:moveTo>
                  <a:lnTo>
                    <a:pt x="1116902" y="0"/>
                  </a:lnTo>
                  <a:lnTo>
                    <a:pt x="1116902" y="1766913"/>
                  </a:lnTo>
                  <a:lnTo>
                    <a:pt x="0" y="1766913"/>
                  </a:lnTo>
                  <a:close/>
                </a:path>
              </a:pathLst>
            </a:custGeom>
            <a:solidFill>
              <a:srgbClr val="F4F4F4"/>
            </a:solidFill>
            <a:ln w="38100" cap="sq">
              <a:solidFill>
                <a:srgbClr val="F4F4F4"/>
              </a:solidFill>
              <a:prstDash val="solid"/>
              <a:miter/>
            </a:ln>
          </p:spPr>
        </p:sp>
        <p:sp>
          <p:nvSpPr>
            <p:cNvPr name="TextBox 4" id="4"/>
            <p:cNvSpPr txBox="true"/>
            <p:nvPr/>
          </p:nvSpPr>
          <p:spPr>
            <a:xfrm>
              <a:off x="0" y="-66675"/>
              <a:ext cx="1116902" cy="1833588"/>
            </a:xfrm>
            <a:prstGeom prst="rect">
              <a:avLst/>
            </a:prstGeom>
          </p:spPr>
          <p:txBody>
            <a:bodyPr anchor="t" rtlCol="false" tIns="50800" lIns="50800" bIns="50800" rIns="50800"/>
            <a:lstStyle/>
            <a:p>
              <a:pPr algn="ctr">
                <a:lnSpc>
                  <a:spcPts val="3359"/>
                </a:lnSpc>
              </a:pPr>
              <a:r>
                <a:rPr lang="en-US" b="true" sz="2400" spc="60">
                  <a:solidFill>
                    <a:srgbClr val="1D4355"/>
                  </a:solidFill>
                  <a:latin typeface="Poppins Semi-Bold"/>
                  <a:ea typeface="Poppins Semi-Bold"/>
                  <a:cs typeface="Poppins Semi-Bold"/>
                  <a:sym typeface="Poppins Semi-Bold"/>
                </a:rPr>
                <a:t>Data Extraction</a:t>
              </a:r>
            </a:p>
          </p:txBody>
        </p:sp>
      </p:grpSp>
      <p:sp>
        <p:nvSpPr>
          <p:cNvPr name="Freeform 5" id="5"/>
          <p:cNvSpPr/>
          <p:nvPr/>
        </p:nvSpPr>
        <p:spPr>
          <a:xfrm flipH="false" flipV="false" rot="0">
            <a:off x="1870819" y="2649593"/>
            <a:ext cx="1869341" cy="1223974"/>
          </a:xfrm>
          <a:custGeom>
            <a:avLst/>
            <a:gdLst/>
            <a:ahLst/>
            <a:cxnLst/>
            <a:rect r="r" b="b" t="t" l="l"/>
            <a:pathLst>
              <a:path h="1223974" w="1869341">
                <a:moveTo>
                  <a:pt x="0" y="0"/>
                </a:moveTo>
                <a:lnTo>
                  <a:pt x="1869341" y="0"/>
                </a:lnTo>
                <a:lnTo>
                  <a:pt x="1869341" y="1223973"/>
                </a:lnTo>
                <a:lnTo>
                  <a:pt x="0" y="1223973"/>
                </a:lnTo>
                <a:lnTo>
                  <a:pt x="0" y="0"/>
                </a:lnTo>
                <a:close/>
              </a:path>
            </a:pathLst>
          </a:custGeom>
          <a:blipFill>
            <a:blip r:embed="rId3"/>
            <a:stretch>
              <a:fillRect l="0" t="0" r="0" b="0"/>
            </a:stretch>
          </a:blipFill>
        </p:spPr>
      </p:sp>
      <p:grpSp>
        <p:nvGrpSpPr>
          <p:cNvPr name="Group 6" id="6"/>
          <p:cNvGrpSpPr/>
          <p:nvPr/>
        </p:nvGrpSpPr>
        <p:grpSpPr>
          <a:xfrm rot="0">
            <a:off x="6656402" y="1851205"/>
            <a:ext cx="4975196" cy="7870646"/>
            <a:chOff x="0" y="0"/>
            <a:chExt cx="1116902" cy="1766913"/>
          </a:xfrm>
        </p:grpSpPr>
        <p:sp>
          <p:nvSpPr>
            <p:cNvPr name="Freeform 7" id="7"/>
            <p:cNvSpPr/>
            <p:nvPr/>
          </p:nvSpPr>
          <p:spPr>
            <a:xfrm flipH="false" flipV="false" rot="0">
              <a:off x="0" y="0"/>
              <a:ext cx="1116902" cy="1766913"/>
            </a:xfrm>
            <a:custGeom>
              <a:avLst/>
              <a:gdLst/>
              <a:ahLst/>
              <a:cxnLst/>
              <a:rect r="r" b="b" t="t" l="l"/>
              <a:pathLst>
                <a:path h="1766913" w="1116902">
                  <a:moveTo>
                    <a:pt x="0" y="0"/>
                  </a:moveTo>
                  <a:lnTo>
                    <a:pt x="1116902" y="0"/>
                  </a:lnTo>
                  <a:lnTo>
                    <a:pt x="1116902" y="1766913"/>
                  </a:lnTo>
                  <a:lnTo>
                    <a:pt x="0" y="1766913"/>
                  </a:lnTo>
                  <a:close/>
                </a:path>
              </a:pathLst>
            </a:custGeom>
            <a:solidFill>
              <a:srgbClr val="F4F4F4"/>
            </a:solidFill>
            <a:ln w="38100" cap="sq">
              <a:solidFill>
                <a:srgbClr val="F4F4F4"/>
              </a:solidFill>
              <a:prstDash val="solid"/>
              <a:miter/>
            </a:ln>
          </p:spPr>
        </p:sp>
        <p:sp>
          <p:nvSpPr>
            <p:cNvPr name="TextBox 8" id="8"/>
            <p:cNvSpPr txBox="true"/>
            <p:nvPr/>
          </p:nvSpPr>
          <p:spPr>
            <a:xfrm>
              <a:off x="0" y="-66675"/>
              <a:ext cx="1116902" cy="1833588"/>
            </a:xfrm>
            <a:prstGeom prst="rect">
              <a:avLst/>
            </a:prstGeom>
          </p:spPr>
          <p:txBody>
            <a:bodyPr anchor="t" rtlCol="false" tIns="50800" lIns="50800" bIns="50800" rIns="50800"/>
            <a:lstStyle/>
            <a:p>
              <a:pPr algn="ctr">
                <a:lnSpc>
                  <a:spcPts val="3359"/>
                </a:lnSpc>
              </a:pPr>
              <a:r>
                <a:rPr lang="en-US" b="true" sz="2400" spc="60">
                  <a:solidFill>
                    <a:srgbClr val="1D4355"/>
                  </a:solidFill>
                  <a:latin typeface="Poppins Semi-Bold"/>
                  <a:ea typeface="Poppins Semi-Bold"/>
                  <a:cs typeface="Poppins Semi-Bold"/>
                  <a:sym typeface="Poppins Semi-Bold"/>
                </a:rPr>
                <a:t>Data Integration &amp; </a:t>
              </a:r>
            </a:p>
            <a:p>
              <a:pPr algn="ctr">
                <a:lnSpc>
                  <a:spcPts val="3359"/>
                </a:lnSpc>
              </a:pPr>
              <a:r>
                <a:rPr lang="en-US" b="true" sz="2400" spc="60">
                  <a:solidFill>
                    <a:srgbClr val="1D4355"/>
                  </a:solidFill>
                  <a:latin typeface="Poppins Semi-Bold"/>
                  <a:ea typeface="Poppins Semi-Bold"/>
                  <a:cs typeface="Poppins Semi-Bold"/>
                  <a:sym typeface="Poppins Semi-Bold"/>
                </a:rPr>
                <a:t>Pre-Processing</a:t>
              </a:r>
            </a:p>
            <a:p>
              <a:pPr algn="ctr">
                <a:lnSpc>
                  <a:spcPts val="3359"/>
                </a:lnSpc>
              </a:pPr>
            </a:p>
          </p:txBody>
        </p:sp>
      </p:grpSp>
      <p:grpSp>
        <p:nvGrpSpPr>
          <p:cNvPr name="Group 9" id="9"/>
          <p:cNvGrpSpPr/>
          <p:nvPr/>
        </p:nvGrpSpPr>
        <p:grpSpPr>
          <a:xfrm rot="0">
            <a:off x="12755548" y="1851205"/>
            <a:ext cx="4975196" cy="7870646"/>
            <a:chOff x="0" y="0"/>
            <a:chExt cx="1116902" cy="1766913"/>
          </a:xfrm>
        </p:grpSpPr>
        <p:sp>
          <p:nvSpPr>
            <p:cNvPr name="Freeform 10" id="10"/>
            <p:cNvSpPr/>
            <p:nvPr/>
          </p:nvSpPr>
          <p:spPr>
            <a:xfrm flipH="false" flipV="false" rot="0">
              <a:off x="0" y="0"/>
              <a:ext cx="1116902" cy="1766913"/>
            </a:xfrm>
            <a:custGeom>
              <a:avLst/>
              <a:gdLst/>
              <a:ahLst/>
              <a:cxnLst/>
              <a:rect r="r" b="b" t="t" l="l"/>
              <a:pathLst>
                <a:path h="1766913" w="1116902">
                  <a:moveTo>
                    <a:pt x="0" y="0"/>
                  </a:moveTo>
                  <a:lnTo>
                    <a:pt x="1116902" y="0"/>
                  </a:lnTo>
                  <a:lnTo>
                    <a:pt x="1116902" y="1766913"/>
                  </a:lnTo>
                  <a:lnTo>
                    <a:pt x="0" y="1766913"/>
                  </a:lnTo>
                  <a:close/>
                </a:path>
              </a:pathLst>
            </a:custGeom>
            <a:solidFill>
              <a:srgbClr val="F4F4F4"/>
            </a:solidFill>
            <a:ln w="38100" cap="sq">
              <a:solidFill>
                <a:srgbClr val="F4F4F4"/>
              </a:solidFill>
              <a:prstDash val="solid"/>
              <a:miter/>
            </a:ln>
          </p:spPr>
        </p:sp>
        <p:sp>
          <p:nvSpPr>
            <p:cNvPr name="TextBox 11" id="11"/>
            <p:cNvSpPr txBox="true"/>
            <p:nvPr/>
          </p:nvSpPr>
          <p:spPr>
            <a:xfrm>
              <a:off x="0" y="-66675"/>
              <a:ext cx="1116902" cy="1833588"/>
            </a:xfrm>
            <a:prstGeom prst="rect">
              <a:avLst/>
            </a:prstGeom>
          </p:spPr>
          <p:txBody>
            <a:bodyPr anchor="t" rtlCol="false" tIns="50800" lIns="50800" bIns="50800" rIns="50800"/>
            <a:lstStyle/>
            <a:p>
              <a:pPr algn="ctr">
                <a:lnSpc>
                  <a:spcPts val="3359"/>
                </a:lnSpc>
              </a:pPr>
              <a:r>
                <a:rPr lang="en-US" b="true" sz="2400" spc="60">
                  <a:solidFill>
                    <a:srgbClr val="1D4355"/>
                  </a:solidFill>
                  <a:latin typeface="Poppins Semi-Bold"/>
                  <a:ea typeface="Poppins Semi-Bold"/>
                  <a:cs typeface="Poppins Semi-Bold"/>
                  <a:sym typeface="Poppins Semi-Bold"/>
                </a:rPr>
                <a:t>Feature Engineering</a:t>
              </a:r>
            </a:p>
          </p:txBody>
        </p:sp>
      </p:grpSp>
      <p:grpSp>
        <p:nvGrpSpPr>
          <p:cNvPr name="Group 12" id="12"/>
          <p:cNvGrpSpPr/>
          <p:nvPr/>
        </p:nvGrpSpPr>
        <p:grpSpPr>
          <a:xfrm rot="0">
            <a:off x="1080900" y="4140266"/>
            <a:ext cx="3936125" cy="1126211"/>
            <a:chOff x="0" y="0"/>
            <a:chExt cx="1036675" cy="296615"/>
          </a:xfrm>
        </p:grpSpPr>
        <p:sp>
          <p:nvSpPr>
            <p:cNvPr name="Freeform 13" id="13"/>
            <p:cNvSpPr/>
            <p:nvPr/>
          </p:nvSpPr>
          <p:spPr>
            <a:xfrm flipH="false" flipV="false" rot="0">
              <a:off x="0" y="0"/>
              <a:ext cx="1036675" cy="296615"/>
            </a:xfrm>
            <a:custGeom>
              <a:avLst/>
              <a:gdLst/>
              <a:ahLst/>
              <a:cxnLst/>
              <a:rect r="r" b="b" t="t" l="l"/>
              <a:pathLst>
                <a:path h="296615" w="1036675">
                  <a:moveTo>
                    <a:pt x="100311" y="0"/>
                  </a:moveTo>
                  <a:lnTo>
                    <a:pt x="936363" y="0"/>
                  </a:lnTo>
                  <a:cubicBezTo>
                    <a:pt x="962968" y="0"/>
                    <a:pt x="988482" y="10568"/>
                    <a:pt x="1007294" y="29381"/>
                  </a:cubicBezTo>
                  <a:cubicBezTo>
                    <a:pt x="1026106" y="48193"/>
                    <a:pt x="1036675" y="73707"/>
                    <a:pt x="1036675" y="100311"/>
                  </a:cubicBezTo>
                  <a:lnTo>
                    <a:pt x="1036675" y="196304"/>
                  </a:lnTo>
                  <a:cubicBezTo>
                    <a:pt x="1036675" y="222908"/>
                    <a:pt x="1026106" y="248423"/>
                    <a:pt x="1007294" y="267235"/>
                  </a:cubicBezTo>
                  <a:cubicBezTo>
                    <a:pt x="988482" y="286047"/>
                    <a:pt x="962968" y="296615"/>
                    <a:pt x="936363" y="296615"/>
                  </a:cubicBezTo>
                  <a:lnTo>
                    <a:pt x="100311" y="296615"/>
                  </a:lnTo>
                  <a:cubicBezTo>
                    <a:pt x="73707" y="296615"/>
                    <a:pt x="48193" y="286047"/>
                    <a:pt x="29381" y="267235"/>
                  </a:cubicBezTo>
                  <a:cubicBezTo>
                    <a:pt x="10568" y="248423"/>
                    <a:pt x="0" y="222908"/>
                    <a:pt x="0" y="196304"/>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14" id="14"/>
            <p:cNvSpPr txBox="true"/>
            <p:nvPr/>
          </p:nvSpPr>
          <p:spPr>
            <a:xfrm>
              <a:off x="0" y="-66675"/>
              <a:ext cx="1036675" cy="363290"/>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Demographic</a:t>
              </a:r>
            </a:p>
            <a:p>
              <a:pPr algn="ctr">
                <a:lnSpc>
                  <a:spcPts val="1960"/>
                </a:lnSpc>
              </a:pPr>
              <a:r>
                <a:rPr lang="en-US" sz="1400" spc="35">
                  <a:solidFill>
                    <a:srgbClr val="FFFFFF"/>
                  </a:solidFill>
                  <a:latin typeface="Poppins"/>
                  <a:ea typeface="Poppins"/>
                  <a:cs typeface="Poppins"/>
                  <a:sym typeface="Poppins"/>
                </a:rPr>
                <a:t>Age, Gender, Race, Ethnicity, Years of Education</a:t>
              </a:r>
            </a:p>
          </p:txBody>
        </p:sp>
      </p:grpSp>
      <p:sp>
        <p:nvSpPr>
          <p:cNvPr name="TextBox 15" id="15"/>
          <p:cNvSpPr txBox="true"/>
          <p:nvPr/>
        </p:nvSpPr>
        <p:spPr>
          <a:xfrm rot="0">
            <a:off x="335131" y="702637"/>
            <a:ext cx="11476644" cy="999491"/>
          </a:xfrm>
          <a:prstGeom prst="rect">
            <a:avLst/>
          </a:prstGeom>
        </p:spPr>
        <p:txBody>
          <a:bodyPr anchor="t" rtlCol="false" tIns="0" lIns="0" bIns="0" rIns="0">
            <a:spAutoFit/>
          </a:bodyPr>
          <a:lstStyle/>
          <a:p>
            <a:pPr algn="l">
              <a:lnSpc>
                <a:spcPts val="7280"/>
              </a:lnSpc>
            </a:pPr>
            <a:r>
              <a:rPr lang="en-US" sz="8000" spc="-200">
                <a:solidFill>
                  <a:srgbClr val="1D4355"/>
                </a:solidFill>
                <a:latin typeface="Poppins Bold"/>
                <a:ea typeface="Poppins Bold"/>
                <a:cs typeface="Poppins Bold"/>
                <a:sym typeface="Poppins Bold"/>
              </a:rPr>
              <a:t>Methods: Dataset</a:t>
            </a:r>
          </a:p>
        </p:txBody>
      </p:sp>
      <p:grpSp>
        <p:nvGrpSpPr>
          <p:cNvPr name="Group 16" id="16"/>
          <p:cNvGrpSpPr/>
          <p:nvPr/>
        </p:nvGrpSpPr>
        <p:grpSpPr>
          <a:xfrm rot="0">
            <a:off x="1080900" y="5467350"/>
            <a:ext cx="3936125" cy="1126211"/>
            <a:chOff x="0" y="0"/>
            <a:chExt cx="1036675" cy="296615"/>
          </a:xfrm>
        </p:grpSpPr>
        <p:sp>
          <p:nvSpPr>
            <p:cNvPr name="Freeform 17" id="17"/>
            <p:cNvSpPr/>
            <p:nvPr/>
          </p:nvSpPr>
          <p:spPr>
            <a:xfrm flipH="false" flipV="false" rot="0">
              <a:off x="0" y="0"/>
              <a:ext cx="1036675" cy="296615"/>
            </a:xfrm>
            <a:custGeom>
              <a:avLst/>
              <a:gdLst/>
              <a:ahLst/>
              <a:cxnLst/>
              <a:rect r="r" b="b" t="t" l="l"/>
              <a:pathLst>
                <a:path h="296615" w="1036675">
                  <a:moveTo>
                    <a:pt x="100311" y="0"/>
                  </a:moveTo>
                  <a:lnTo>
                    <a:pt x="936363" y="0"/>
                  </a:lnTo>
                  <a:cubicBezTo>
                    <a:pt x="962968" y="0"/>
                    <a:pt x="988482" y="10568"/>
                    <a:pt x="1007294" y="29381"/>
                  </a:cubicBezTo>
                  <a:cubicBezTo>
                    <a:pt x="1026106" y="48193"/>
                    <a:pt x="1036675" y="73707"/>
                    <a:pt x="1036675" y="100311"/>
                  </a:cubicBezTo>
                  <a:lnTo>
                    <a:pt x="1036675" y="196304"/>
                  </a:lnTo>
                  <a:cubicBezTo>
                    <a:pt x="1036675" y="222908"/>
                    <a:pt x="1026106" y="248423"/>
                    <a:pt x="1007294" y="267235"/>
                  </a:cubicBezTo>
                  <a:cubicBezTo>
                    <a:pt x="988482" y="286047"/>
                    <a:pt x="962968" y="296615"/>
                    <a:pt x="936363" y="296615"/>
                  </a:cubicBezTo>
                  <a:lnTo>
                    <a:pt x="100311" y="296615"/>
                  </a:lnTo>
                  <a:cubicBezTo>
                    <a:pt x="73707" y="296615"/>
                    <a:pt x="48193" y="286047"/>
                    <a:pt x="29381" y="267235"/>
                  </a:cubicBezTo>
                  <a:cubicBezTo>
                    <a:pt x="10568" y="248423"/>
                    <a:pt x="0" y="222908"/>
                    <a:pt x="0" y="196304"/>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18" id="18"/>
            <p:cNvSpPr txBox="true"/>
            <p:nvPr/>
          </p:nvSpPr>
          <p:spPr>
            <a:xfrm>
              <a:off x="0" y="-66675"/>
              <a:ext cx="1036675" cy="363290"/>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Clinical</a:t>
              </a:r>
            </a:p>
            <a:p>
              <a:pPr algn="ctr">
                <a:lnSpc>
                  <a:spcPts val="1960"/>
                </a:lnSpc>
              </a:pPr>
              <a:r>
                <a:rPr lang="en-US" sz="1400" spc="35">
                  <a:solidFill>
                    <a:srgbClr val="FFFFFF"/>
                  </a:solidFill>
                  <a:latin typeface="Poppins"/>
                  <a:ea typeface="Poppins"/>
                  <a:cs typeface="Poppins"/>
                  <a:sym typeface="Poppins"/>
                </a:rPr>
                <a:t>APOE allele status, Baseline diagnosis, </a:t>
              </a:r>
            </a:p>
            <a:p>
              <a:pPr algn="ctr">
                <a:lnSpc>
                  <a:spcPts val="1960"/>
                </a:lnSpc>
              </a:pPr>
              <a:r>
                <a:rPr lang="en-US" sz="1400" spc="35">
                  <a:solidFill>
                    <a:srgbClr val="FFFFFF"/>
                  </a:solidFill>
                  <a:latin typeface="Poppins"/>
                  <a:ea typeface="Poppins"/>
                  <a:cs typeface="Poppins"/>
                  <a:sym typeface="Poppins"/>
                </a:rPr>
                <a:t>Visit Diagnoses</a:t>
              </a:r>
            </a:p>
          </p:txBody>
        </p:sp>
      </p:grpSp>
      <p:grpSp>
        <p:nvGrpSpPr>
          <p:cNvPr name="Group 19" id="19"/>
          <p:cNvGrpSpPr/>
          <p:nvPr/>
        </p:nvGrpSpPr>
        <p:grpSpPr>
          <a:xfrm rot="0">
            <a:off x="1080900" y="6799720"/>
            <a:ext cx="3936125" cy="1126211"/>
            <a:chOff x="0" y="0"/>
            <a:chExt cx="1036675" cy="296615"/>
          </a:xfrm>
        </p:grpSpPr>
        <p:sp>
          <p:nvSpPr>
            <p:cNvPr name="Freeform 20" id="20"/>
            <p:cNvSpPr/>
            <p:nvPr/>
          </p:nvSpPr>
          <p:spPr>
            <a:xfrm flipH="false" flipV="false" rot="0">
              <a:off x="0" y="0"/>
              <a:ext cx="1036675" cy="296615"/>
            </a:xfrm>
            <a:custGeom>
              <a:avLst/>
              <a:gdLst/>
              <a:ahLst/>
              <a:cxnLst/>
              <a:rect r="r" b="b" t="t" l="l"/>
              <a:pathLst>
                <a:path h="296615" w="1036675">
                  <a:moveTo>
                    <a:pt x="100311" y="0"/>
                  </a:moveTo>
                  <a:lnTo>
                    <a:pt x="936363" y="0"/>
                  </a:lnTo>
                  <a:cubicBezTo>
                    <a:pt x="962968" y="0"/>
                    <a:pt x="988482" y="10568"/>
                    <a:pt x="1007294" y="29381"/>
                  </a:cubicBezTo>
                  <a:cubicBezTo>
                    <a:pt x="1026106" y="48193"/>
                    <a:pt x="1036675" y="73707"/>
                    <a:pt x="1036675" y="100311"/>
                  </a:cubicBezTo>
                  <a:lnTo>
                    <a:pt x="1036675" y="196304"/>
                  </a:lnTo>
                  <a:cubicBezTo>
                    <a:pt x="1036675" y="222908"/>
                    <a:pt x="1026106" y="248423"/>
                    <a:pt x="1007294" y="267235"/>
                  </a:cubicBezTo>
                  <a:cubicBezTo>
                    <a:pt x="988482" y="286047"/>
                    <a:pt x="962968" y="296615"/>
                    <a:pt x="936363" y="296615"/>
                  </a:cubicBezTo>
                  <a:lnTo>
                    <a:pt x="100311" y="296615"/>
                  </a:lnTo>
                  <a:cubicBezTo>
                    <a:pt x="73707" y="296615"/>
                    <a:pt x="48193" y="286047"/>
                    <a:pt x="29381" y="267235"/>
                  </a:cubicBezTo>
                  <a:cubicBezTo>
                    <a:pt x="10568" y="248423"/>
                    <a:pt x="0" y="222908"/>
                    <a:pt x="0" y="196304"/>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21" id="21"/>
            <p:cNvSpPr txBox="true"/>
            <p:nvPr/>
          </p:nvSpPr>
          <p:spPr>
            <a:xfrm>
              <a:off x="0" y="-66675"/>
              <a:ext cx="1036675" cy="363290"/>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Cognitive</a:t>
              </a:r>
            </a:p>
            <a:p>
              <a:pPr algn="ctr">
                <a:lnSpc>
                  <a:spcPts val="1960"/>
                </a:lnSpc>
              </a:pPr>
              <a:r>
                <a:rPr lang="en-US" sz="1400" spc="35">
                  <a:solidFill>
                    <a:srgbClr val="FFFFFF"/>
                  </a:solidFill>
                  <a:latin typeface="Poppins"/>
                  <a:ea typeface="Poppins"/>
                  <a:cs typeface="Poppins"/>
                  <a:sym typeface="Poppins"/>
                </a:rPr>
                <a:t>MMSE, CDR-SB, MOCA, ADAS11/13, LDEL, ECog</a:t>
              </a:r>
            </a:p>
          </p:txBody>
        </p:sp>
      </p:grpSp>
      <p:grpSp>
        <p:nvGrpSpPr>
          <p:cNvPr name="Group 22" id="22"/>
          <p:cNvGrpSpPr/>
          <p:nvPr/>
        </p:nvGrpSpPr>
        <p:grpSpPr>
          <a:xfrm rot="0">
            <a:off x="1080900" y="8132089"/>
            <a:ext cx="3936125" cy="1126211"/>
            <a:chOff x="0" y="0"/>
            <a:chExt cx="1036675" cy="296615"/>
          </a:xfrm>
        </p:grpSpPr>
        <p:sp>
          <p:nvSpPr>
            <p:cNvPr name="Freeform 23" id="23"/>
            <p:cNvSpPr/>
            <p:nvPr/>
          </p:nvSpPr>
          <p:spPr>
            <a:xfrm flipH="false" flipV="false" rot="0">
              <a:off x="0" y="0"/>
              <a:ext cx="1036675" cy="296615"/>
            </a:xfrm>
            <a:custGeom>
              <a:avLst/>
              <a:gdLst/>
              <a:ahLst/>
              <a:cxnLst/>
              <a:rect r="r" b="b" t="t" l="l"/>
              <a:pathLst>
                <a:path h="296615" w="1036675">
                  <a:moveTo>
                    <a:pt x="100311" y="0"/>
                  </a:moveTo>
                  <a:lnTo>
                    <a:pt x="936363" y="0"/>
                  </a:lnTo>
                  <a:cubicBezTo>
                    <a:pt x="962968" y="0"/>
                    <a:pt x="988482" y="10568"/>
                    <a:pt x="1007294" y="29381"/>
                  </a:cubicBezTo>
                  <a:cubicBezTo>
                    <a:pt x="1026106" y="48193"/>
                    <a:pt x="1036675" y="73707"/>
                    <a:pt x="1036675" y="100311"/>
                  </a:cubicBezTo>
                  <a:lnTo>
                    <a:pt x="1036675" y="196304"/>
                  </a:lnTo>
                  <a:cubicBezTo>
                    <a:pt x="1036675" y="222908"/>
                    <a:pt x="1026106" y="248423"/>
                    <a:pt x="1007294" y="267235"/>
                  </a:cubicBezTo>
                  <a:cubicBezTo>
                    <a:pt x="988482" y="286047"/>
                    <a:pt x="962968" y="296615"/>
                    <a:pt x="936363" y="296615"/>
                  </a:cubicBezTo>
                  <a:lnTo>
                    <a:pt x="100311" y="296615"/>
                  </a:lnTo>
                  <a:cubicBezTo>
                    <a:pt x="73707" y="296615"/>
                    <a:pt x="48193" y="286047"/>
                    <a:pt x="29381" y="267235"/>
                  </a:cubicBezTo>
                  <a:cubicBezTo>
                    <a:pt x="10568" y="248423"/>
                    <a:pt x="0" y="222908"/>
                    <a:pt x="0" y="196304"/>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24" id="24"/>
            <p:cNvSpPr txBox="true"/>
            <p:nvPr/>
          </p:nvSpPr>
          <p:spPr>
            <a:xfrm>
              <a:off x="0" y="-66675"/>
              <a:ext cx="1036675" cy="363290"/>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Neuroimaging</a:t>
              </a:r>
            </a:p>
            <a:p>
              <a:pPr algn="ctr">
                <a:lnSpc>
                  <a:spcPts val="1960"/>
                </a:lnSpc>
              </a:pPr>
              <a:r>
                <a:rPr lang="en-US" sz="1400" spc="35">
                  <a:solidFill>
                    <a:srgbClr val="FFFFFF"/>
                  </a:solidFill>
                  <a:latin typeface="Poppins"/>
                  <a:ea typeface="Poppins"/>
                  <a:cs typeface="Poppins"/>
                  <a:sym typeface="Poppins"/>
                </a:rPr>
                <a:t>ASL Perfusion CBF Statistics for 130 regions</a:t>
              </a:r>
            </a:p>
          </p:txBody>
        </p:sp>
      </p:grpSp>
      <p:grpSp>
        <p:nvGrpSpPr>
          <p:cNvPr name="Group 25" id="25"/>
          <p:cNvGrpSpPr/>
          <p:nvPr/>
        </p:nvGrpSpPr>
        <p:grpSpPr>
          <a:xfrm rot="0">
            <a:off x="5017024" y="4684322"/>
            <a:ext cx="1075479" cy="4010873"/>
            <a:chOff x="0" y="0"/>
            <a:chExt cx="1433972" cy="5347830"/>
          </a:xfrm>
        </p:grpSpPr>
        <p:sp>
          <p:nvSpPr>
            <p:cNvPr name="AutoShape 26" id="26"/>
            <p:cNvSpPr/>
            <p:nvPr/>
          </p:nvSpPr>
          <p:spPr>
            <a:xfrm>
              <a:off x="0" y="25400"/>
              <a:ext cx="1408572" cy="0"/>
            </a:xfrm>
            <a:prstGeom prst="line">
              <a:avLst/>
            </a:prstGeom>
            <a:ln cap="flat" w="50800">
              <a:solidFill>
                <a:srgbClr val="000000"/>
              </a:solidFill>
              <a:prstDash val="solid"/>
              <a:headEnd type="none" len="sm" w="sm"/>
              <a:tailEnd type="none" len="sm" w="sm"/>
            </a:ln>
          </p:spPr>
        </p:sp>
        <p:sp>
          <p:nvSpPr>
            <p:cNvPr name="AutoShape 27" id="27"/>
            <p:cNvSpPr/>
            <p:nvPr/>
          </p:nvSpPr>
          <p:spPr>
            <a:xfrm>
              <a:off x="0" y="1738260"/>
              <a:ext cx="1408572" cy="0"/>
            </a:xfrm>
            <a:prstGeom prst="line">
              <a:avLst/>
            </a:prstGeom>
            <a:ln cap="flat" w="50800">
              <a:solidFill>
                <a:srgbClr val="000000"/>
              </a:solidFill>
              <a:prstDash val="solid"/>
              <a:headEnd type="none" len="sm" w="sm"/>
              <a:tailEnd type="none" len="sm" w="sm"/>
            </a:ln>
          </p:spPr>
        </p:sp>
        <p:sp>
          <p:nvSpPr>
            <p:cNvPr name="AutoShape 28" id="28"/>
            <p:cNvSpPr/>
            <p:nvPr/>
          </p:nvSpPr>
          <p:spPr>
            <a:xfrm>
              <a:off x="0" y="3452760"/>
              <a:ext cx="1408572" cy="0"/>
            </a:xfrm>
            <a:prstGeom prst="line">
              <a:avLst/>
            </a:prstGeom>
            <a:ln cap="flat" w="50800">
              <a:solidFill>
                <a:srgbClr val="000000"/>
              </a:solidFill>
              <a:prstDash val="solid"/>
              <a:headEnd type="none" len="sm" w="sm"/>
              <a:tailEnd type="none" len="sm" w="sm"/>
            </a:ln>
          </p:spPr>
        </p:sp>
        <p:sp>
          <p:nvSpPr>
            <p:cNvPr name="AutoShape 29" id="29"/>
            <p:cNvSpPr/>
            <p:nvPr/>
          </p:nvSpPr>
          <p:spPr>
            <a:xfrm>
              <a:off x="0" y="5322430"/>
              <a:ext cx="1408572" cy="0"/>
            </a:xfrm>
            <a:prstGeom prst="line">
              <a:avLst/>
            </a:prstGeom>
            <a:ln cap="flat" w="50800">
              <a:solidFill>
                <a:srgbClr val="000000"/>
              </a:solidFill>
              <a:prstDash val="solid"/>
              <a:headEnd type="none" len="sm" w="sm"/>
              <a:tailEnd type="none" len="sm" w="sm"/>
            </a:ln>
          </p:spPr>
        </p:sp>
        <p:sp>
          <p:nvSpPr>
            <p:cNvPr name="AutoShape 30" id="30"/>
            <p:cNvSpPr/>
            <p:nvPr/>
          </p:nvSpPr>
          <p:spPr>
            <a:xfrm flipV="true">
              <a:off x="1408572" y="25400"/>
              <a:ext cx="0" cy="5322430"/>
            </a:xfrm>
            <a:prstGeom prst="line">
              <a:avLst/>
            </a:prstGeom>
            <a:ln cap="flat" w="50800">
              <a:solidFill>
                <a:srgbClr val="000000"/>
              </a:solidFill>
              <a:prstDash val="solid"/>
              <a:headEnd type="none" len="sm" w="sm"/>
              <a:tailEnd type="none" len="sm" w="sm"/>
            </a:ln>
          </p:spPr>
        </p:sp>
      </p:grpSp>
      <p:sp>
        <p:nvSpPr>
          <p:cNvPr name="AutoShape 31" id="31"/>
          <p:cNvSpPr/>
          <p:nvPr/>
        </p:nvSpPr>
        <p:spPr>
          <a:xfrm>
            <a:off x="6435985" y="3598837"/>
            <a:ext cx="619427" cy="0"/>
          </a:xfrm>
          <a:prstGeom prst="line">
            <a:avLst/>
          </a:prstGeom>
          <a:ln cap="flat" w="38100">
            <a:solidFill>
              <a:srgbClr val="000000"/>
            </a:solidFill>
            <a:prstDash val="solid"/>
            <a:headEnd type="none" len="sm" w="sm"/>
            <a:tailEnd type="arrow" len="sm" w="med"/>
          </a:ln>
        </p:spPr>
      </p:sp>
      <p:sp>
        <p:nvSpPr>
          <p:cNvPr name="AutoShape 32" id="32"/>
          <p:cNvSpPr/>
          <p:nvPr/>
        </p:nvSpPr>
        <p:spPr>
          <a:xfrm>
            <a:off x="6073453" y="6609278"/>
            <a:ext cx="362531" cy="0"/>
          </a:xfrm>
          <a:prstGeom prst="line">
            <a:avLst/>
          </a:prstGeom>
          <a:ln cap="flat" w="38100">
            <a:solidFill>
              <a:srgbClr val="000000"/>
            </a:solidFill>
            <a:prstDash val="solid"/>
            <a:headEnd type="none" len="sm" w="sm"/>
            <a:tailEnd type="none" len="sm" w="sm"/>
          </a:ln>
        </p:spPr>
      </p:sp>
      <p:sp>
        <p:nvSpPr>
          <p:cNvPr name="AutoShape 33" id="33"/>
          <p:cNvSpPr/>
          <p:nvPr/>
        </p:nvSpPr>
        <p:spPr>
          <a:xfrm flipV="true">
            <a:off x="6435985" y="3577161"/>
            <a:ext cx="0" cy="3051167"/>
          </a:xfrm>
          <a:prstGeom prst="line">
            <a:avLst/>
          </a:prstGeom>
          <a:ln cap="flat" w="38100">
            <a:solidFill>
              <a:srgbClr val="000000"/>
            </a:solidFill>
            <a:prstDash val="solid"/>
            <a:headEnd type="none" len="sm" w="sm"/>
            <a:tailEnd type="none" len="sm" w="sm"/>
          </a:ln>
        </p:spPr>
      </p:sp>
      <p:grpSp>
        <p:nvGrpSpPr>
          <p:cNvPr name="Group 34" id="34"/>
          <p:cNvGrpSpPr/>
          <p:nvPr/>
        </p:nvGrpSpPr>
        <p:grpSpPr>
          <a:xfrm rot="0">
            <a:off x="7160842" y="2870333"/>
            <a:ext cx="3936125" cy="1003234"/>
            <a:chOff x="0" y="0"/>
            <a:chExt cx="1036675" cy="264226"/>
          </a:xfrm>
        </p:grpSpPr>
        <p:sp>
          <p:nvSpPr>
            <p:cNvPr name="Freeform 35" id="35"/>
            <p:cNvSpPr/>
            <p:nvPr/>
          </p:nvSpPr>
          <p:spPr>
            <a:xfrm flipH="false" flipV="false" rot="0">
              <a:off x="0" y="0"/>
              <a:ext cx="1036675" cy="264226"/>
            </a:xfrm>
            <a:custGeom>
              <a:avLst/>
              <a:gdLst/>
              <a:ahLst/>
              <a:cxnLst/>
              <a:rect r="r" b="b" t="t" l="l"/>
              <a:pathLst>
                <a:path h="264226" w="1036675">
                  <a:moveTo>
                    <a:pt x="100311" y="0"/>
                  </a:moveTo>
                  <a:lnTo>
                    <a:pt x="936363" y="0"/>
                  </a:lnTo>
                  <a:cubicBezTo>
                    <a:pt x="962968" y="0"/>
                    <a:pt x="988482" y="10568"/>
                    <a:pt x="1007294" y="29381"/>
                  </a:cubicBezTo>
                  <a:cubicBezTo>
                    <a:pt x="1026106" y="48193"/>
                    <a:pt x="1036675" y="73707"/>
                    <a:pt x="1036675" y="100311"/>
                  </a:cubicBezTo>
                  <a:lnTo>
                    <a:pt x="1036675" y="163915"/>
                  </a:lnTo>
                  <a:cubicBezTo>
                    <a:pt x="1036675" y="190519"/>
                    <a:pt x="1026106" y="216034"/>
                    <a:pt x="1007294" y="234846"/>
                  </a:cubicBezTo>
                  <a:cubicBezTo>
                    <a:pt x="988482" y="253658"/>
                    <a:pt x="962968" y="264226"/>
                    <a:pt x="936363" y="264226"/>
                  </a:cubicBezTo>
                  <a:lnTo>
                    <a:pt x="100311" y="264226"/>
                  </a:lnTo>
                  <a:cubicBezTo>
                    <a:pt x="73707" y="264226"/>
                    <a:pt x="48193" y="253658"/>
                    <a:pt x="29381" y="234846"/>
                  </a:cubicBezTo>
                  <a:cubicBezTo>
                    <a:pt x="10568" y="216034"/>
                    <a:pt x="0" y="190519"/>
                    <a:pt x="0" y="163915"/>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36" id="36"/>
            <p:cNvSpPr txBox="true"/>
            <p:nvPr/>
          </p:nvSpPr>
          <p:spPr>
            <a:xfrm>
              <a:off x="0" y="-66675"/>
              <a:ext cx="1036675"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Merged dataset</a:t>
              </a:r>
            </a:p>
          </p:txBody>
        </p:sp>
      </p:grpSp>
      <p:sp>
        <p:nvSpPr>
          <p:cNvPr name="AutoShape 37" id="37"/>
          <p:cNvSpPr/>
          <p:nvPr/>
        </p:nvSpPr>
        <p:spPr>
          <a:xfrm flipH="true">
            <a:off x="7929522" y="8277502"/>
            <a:ext cx="2368010" cy="0"/>
          </a:xfrm>
          <a:prstGeom prst="line">
            <a:avLst/>
          </a:prstGeom>
          <a:ln cap="flat" w="38100">
            <a:solidFill>
              <a:srgbClr val="000000"/>
            </a:solidFill>
            <a:prstDash val="solid"/>
            <a:headEnd type="none" len="sm" w="sm"/>
            <a:tailEnd type="none" len="sm" w="sm"/>
          </a:ln>
        </p:spPr>
      </p:sp>
      <p:sp>
        <p:nvSpPr>
          <p:cNvPr name="AutoShape 38" id="38"/>
          <p:cNvSpPr/>
          <p:nvPr/>
        </p:nvSpPr>
        <p:spPr>
          <a:xfrm>
            <a:off x="7948572" y="8277502"/>
            <a:ext cx="0" cy="218727"/>
          </a:xfrm>
          <a:prstGeom prst="line">
            <a:avLst/>
          </a:prstGeom>
          <a:ln cap="flat" w="38100">
            <a:solidFill>
              <a:srgbClr val="000000"/>
            </a:solidFill>
            <a:prstDash val="solid"/>
            <a:headEnd type="none" len="sm" w="sm"/>
            <a:tailEnd type="arrow" len="sm" w="med"/>
          </a:ln>
        </p:spPr>
      </p:sp>
      <p:sp>
        <p:nvSpPr>
          <p:cNvPr name="AutoShape 39" id="39"/>
          <p:cNvSpPr/>
          <p:nvPr/>
        </p:nvSpPr>
        <p:spPr>
          <a:xfrm>
            <a:off x="10278482" y="8267096"/>
            <a:ext cx="0" cy="218727"/>
          </a:xfrm>
          <a:prstGeom prst="line">
            <a:avLst/>
          </a:prstGeom>
          <a:ln cap="flat" w="38100">
            <a:solidFill>
              <a:srgbClr val="000000"/>
            </a:solidFill>
            <a:prstDash val="solid"/>
            <a:headEnd type="none" len="sm" w="sm"/>
            <a:tailEnd type="arrow" len="sm" w="med"/>
          </a:ln>
        </p:spPr>
      </p:sp>
      <p:sp>
        <p:nvSpPr>
          <p:cNvPr name="AutoShape 40" id="40"/>
          <p:cNvSpPr/>
          <p:nvPr/>
        </p:nvSpPr>
        <p:spPr>
          <a:xfrm flipV="true">
            <a:off x="9162087" y="7400887"/>
            <a:ext cx="0" cy="866209"/>
          </a:xfrm>
          <a:prstGeom prst="line">
            <a:avLst/>
          </a:prstGeom>
          <a:ln cap="flat" w="38100">
            <a:solidFill>
              <a:srgbClr val="000000"/>
            </a:solidFill>
            <a:prstDash val="solid"/>
            <a:headEnd type="none" len="sm" w="sm"/>
            <a:tailEnd type="none" len="sm" w="sm"/>
          </a:ln>
        </p:spPr>
      </p:sp>
      <p:sp>
        <p:nvSpPr>
          <p:cNvPr name="AutoShape 41" id="41"/>
          <p:cNvSpPr/>
          <p:nvPr/>
        </p:nvSpPr>
        <p:spPr>
          <a:xfrm>
            <a:off x="11962417" y="3352900"/>
            <a:ext cx="1314450" cy="0"/>
          </a:xfrm>
          <a:prstGeom prst="line">
            <a:avLst/>
          </a:prstGeom>
          <a:ln cap="flat" w="38100">
            <a:solidFill>
              <a:srgbClr val="000000"/>
            </a:solidFill>
            <a:prstDash val="solid"/>
            <a:headEnd type="none" len="sm" w="sm"/>
            <a:tailEnd type="arrow" len="sm" w="med"/>
          </a:ln>
        </p:spPr>
      </p:sp>
      <p:sp>
        <p:nvSpPr>
          <p:cNvPr name="AutoShape 42" id="42"/>
          <p:cNvSpPr/>
          <p:nvPr/>
        </p:nvSpPr>
        <p:spPr>
          <a:xfrm>
            <a:off x="11525164" y="9052806"/>
            <a:ext cx="437253" cy="0"/>
          </a:xfrm>
          <a:prstGeom prst="line">
            <a:avLst/>
          </a:prstGeom>
          <a:ln cap="flat" w="38100">
            <a:solidFill>
              <a:srgbClr val="000000"/>
            </a:solidFill>
            <a:prstDash val="solid"/>
            <a:headEnd type="none" len="sm" w="sm"/>
            <a:tailEnd type="none" len="sm" w="sm"/>
          </a:ln>
        </p:spPr>
      </p:sp>
      <p:sp>
        <p:nvSpPr>
          <p:cNvPr name="AutoShape 43" id="43"/>
          <p:cNvSpPr/>
          <p:nvPr/>
        </p:nvSpPr>
        <p:spPr>
          <a:xfrm flipV="true">
            <a:off x="11962417" y="3352900"/>
            <a:ext cx="0" cy="5699906"/>
          </a:xfrm>
          <a:prstGeom prst="line">
            <a:avLst/>
          </a:prstGeom>
          <a:ln cap="flat" w="38100">
            <a:solidFill>
              <a:srgbClr val="000000"/>
            </a:solidFill>
            <a:prstDash val="solid"/>
            <a:headEnd type="none" len="sm" w="sm"/>
            <a:tailEnd type="none" len="sm" w="sm"/>
          </a:ln>
        </p:spPr>
      </p:sp>
      <p:grpSp>
        <p:nvGrpSpPr>
          <p:cNvPr name="Group 44" id="44"/>
          <p:cNvGrpSpPr/>
          <p:nvPr/>
        </p:nvGrpSpPr>
        <p:grpSpPr>
          <a:xfrm rot="0">
            <a:off x="6827243" y="8532139"/>
            <a:ext cx="2204556" cy="1003234"/>
            <a:chOff x="0" y="0"/>
            <a:chExt cx="580624" cy="264226"/>
          </a:xfrm>
        </p:grpSpPr>
        <p:sp>
          <p:nvSpPr>
            <p:cNvPr name="Freeform 45" id="45"/>
            <p:cNvSpPr/>
            <p:nvPr/>
          </p:nvSpPr>
          <p:spPr>
            <a:xfrm flipH="false" flipV="false" rot="0">
              <a:off x="0" y="0"/>
              <a:ext cx="580624" cy="264226"/>
            </a:xfrm>
            <a:custGeom>
              <a:avLst/>
              <a:gdLst/>
              <a:ahLst/>
              <a:cxnLst/>
              <a:rect r="r" b="b" t="t" l="l"/>
              <a:pathLst>
                <a:path h="264226" w="580624">
                  <a:moveTo>
                    <a:pt x="132113" y="0"/>
                  </a:moveTo>
                  <a:lnTo>
                    <a:pt x="448511" y="0"/>
                  </a:lnTo>
                  <a:cubicBezTo>
                    <a:pt x="521475" y="0"/>
                    <a:pt x="580624" y="59149"/>
                    <a:pt x="580624" y="132113"/>
                  </a:cubicBezTo>
                  <a:lnTo>
                    <a:pt x="580624" y="132113"/>
                  </a:lnTo>
                  <a:cubicBezTo>
                    <a:pt x="580624" y="167152"/>
                    <a:pt x="566705" y="200755"/>
                    <a:pt x="541929" y="225531"/>
                  </a:cubicBezTo>
                  <a:cubicBezTo>
                    <a:pt x="517153" y="250307"/>
                    <a:pt x="483549" y="264226"/>
                    <a:pt x="448511" y="264226"/>
                  </a:cubicBezTo>
                  <a:lnTo>
                    <a:pt x="132113" y="264226"/>
                  </a:lnTo>
                  <a:cubicBezTo>
                    <a:pt x="59149" y="264226"/>
                    <a:pt x="0" y="205077"/>
                    <a:pt x="0" y="132113"/>
                  </a:cubicBezTo>
                  <a:lnTo>
                    <a:pt x="0" y="132113"/>
                  </a:lnTo>
                  <a:cubicBezTo>
                    <a:pt x="0" y="59149"/>
                    <a:pt x="59149" y="0"/>
                    <a:pt x="132113" y="0"/>
                  </a:cubicBezTo>
                  <a:close/>
                </a:path>
              </a:pathLst>
            </a:custGeom>
            <a:solidFill>
              <a:srgbClr val="5789A2"/>
            </a:solidFill>
          </p:spPr>
        </p:sp>
        <p:sp>
          <p:nvSpPr>
            <p:cNvPr name="TextBox 46" id="46"/>
            <p:cNvSpPr txBox="true"/>
            <p:nvPr/>
          </p:nvSpPr>
          <p:spPr>
            <a:xfrm>
              <a:off x="0" y="-66675"/>
              <a:ext cx="580624"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Training</a:t>
              </a:r>
            </a:p>
            <a:p>
              <a:pPr algn="ctr">
                <a:lnSpc>
                  <a:spcPts val="1960"/>
                </a:lnSpc>
              </a:pPr>
              <a:r>
                <a:rPr lang="en-US" sz="1400" spc="35">
                  <a:solidFill>
                    <a:srgbClr val="FFFFFF"/>
                  </a:solidFill>
                  <a:latin typeface="Poppins"/>
                  <a:ea typeface="Poppins"/>
                  <a:cs typeface="Poppins"/>
                  <a:sym typeface="Poppins"/>
                </a:rPr>
                <a:t>80%</a:t>
              </a:r>
            </a:p>
          </p:txBody>
        </p:sp>
      </p:grpSp>
      <p:grpSp>
        <p:nvGrpSpPr>
          <p:cNvPr name="Group 47" id="47"/>
          <p:cNvGrpSpPr/>
          <p:nvPr/>
        </p:nvGrpSpPr>
        <p:grpSpPr>
          <a:xfrm rot="0">
            <a:off x="9176204" y="8532139"/>
            <a:ext cx="2204556" cy="1003234"/>
            <a:chOff x="0" y="0"/>
            <a:chExt cx="580624" cy="264226"/>
          </a:xfrm>
        </p:grpSpPr>
        <p:sp>
          <p:nvSpPr>
            <p:cNvPr name="Freeform 48" id="48"/>
            <p:cNvSpPr/>
            <p:nvPr/>
          </p:nvSpPr>
          <p:spPr>
            <a:xfrm flipH="false" flipV="false" rot="0">
              <a:off x="0" y="0"/>
              <a:ext cx="580624" cy="264226"/>
            </a:xfrm>
            <a:custGeom>
              <a:avLst/>
              <a:gdLst/>
              <a:ahLst/>
              <a:cxnLst/>
              <a:rect r="r" b="b" t="t" l="l"/>
              <a:pathLst>
                <a:path h="264226" w="580624">
                  <a:moveTo>
                    <a:pt x="132113" y="0"/>
                  </a:moveTo>
                  <a:lnTo>
                    <a:pt x="448511" y="0"/>
                  </a:lnTo>
                  <a:cubicBezTo>
                    <a:pt x="521475" y="0"/>
                    <a:pt x="580624" y="59149"/>
                    <a:pt x="580624" y="132113"/>
                  </a:cubicBezTo>
                  <a:lnTo>
                    <a:pt x="580624" y="132113"/>
                  </a:lnTo>
                  <a:cubicBezTo>
                    <a:pt x="580624" y="167152"/>
                    <a:pt x="566705" y="200755"/>
                    <a:pt x="541929" y="225531"/>
                  </a:cubicBezTo>
                  <a:cubicBezTo>
                    <a:pt x="517153" y="250307"/>
                    <a:pt x="483549" y="264226"/>
                    <a:pt x="448511" y="264226"/>
                  </a:cubicBezTo>
                  <a:lnTo>
                    <a:pt x="132113" y="264226"/>
                  </a:lnTo>
                  <a:cubicBezTo>
                    <a:pt x="59149" y="264226"/>
                    <a:pt x="0" y="205077"/>
                    <a:pt x="0" y="132113"/>
                  </a:cubicBezTo>
                  <a:lnTo>
                    <a:pt x="0" y="132113"/>
                  </a:lnTo>
                  <a:cubicBezTo>
                    <a:pt x="0" y="59149"/>
                    <a:pt x="59149" y="0"/>
                    <a:pt x="132113" y="0"/>
                  </a:cubicBezTo>
                  <a:close/>
                </a:path>
              </a:pathLst>
            </a:custGeom>
            <a:solidFill>
              <a:srgbClr val="5789A2"/>
            </a:solidFill>
          </p:spPr>
        </p:sp>
        <p:sp>
          <p:nvSpPr>
            <p:cNvPr name="TextBox 49" id="49"/>
            <p:cNvSpPr txBox="true"/>
            <p:nvPr/>
          </p:nvSpPr>
          <p:spPr>
            <a:xfrm>
              <a:off x="0" y="-66675"/>
              <a:ext cx="580624"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Testing</a:t>
              </a:r>
            </a:p>
            <a:p>
              <a:pPr algn="ctr">
                <a:lnSpc>
                  <a:spcPts val="1960"/>
                </a:lnSpc>
              </a:pPr>
              <a:r>
                <a:rPr lang="en-US" sz="1400" spc="35">
                  <a:solidFill>
                    <a:srgbClr val="FFFFFF"/>
                  </a:solidFill>
                  <a:latin typeface="Poppins"/>
                  <a:ea typeface="Poppins"/>
                  <a:cs typeface="Poppins"/>
                  <a:sym typeface="Poppins"/>
                </a:rPr>
                <a:t>20%</a:t>
              </a:r>
            </a:p>
          </p:txBody>
        </p:sp>
      </p:grpSp>
      <p:grpSp>
        <p:nvGrpSpPr>
          <p:cNvPr name="Group 50" id="50"/>
          <p:cNvGrpSpPr/>
          <p:nvPr/>
        </p:nvGrpSpPr>
        <p:grpSpPr>
          <a:xfrm rot="0">
            <a:off x="7160842" y="4615517"/>
            <a:ext cx="3936125" cy="1003234"/>
            <a:chOff x="0" y="0"/>
            <a:chExt cx="1036675" cy="264226"/>
          </a:xfrm>
        </p:grpSpPr>
        <p:sp>
          <p:nvSpPr>
            <p:cNvPr name="Freeform 51" id="51"/>
            <p:cNvSpPr/>
            <p:nvPr/>
          </p:nvSpPr>
          <p:spPr>
            <a:xfrm flipH="false" flipV="false" rot="0">
              <a:off x="0" y="0"/>
              <a:ext cx="1036675" cy="264226"/>
            </a:xfrm>
            <a:custGeom>
              <a:avLst/>
              <a:gdLst/>
              <a:ahLst/>
              <a:cxnLst/>
              <a:rect r="r" b="b" t="t" l="l"/>
              <a:pathLst>
                <a:path h="264226" w="1036675">
                  <a:moveTo>
                    <a:pt x="100311" y="0"/>
                  </a:moveTo>
                  <a:lnTo>
                    <a:pt x="936363" y="0"/>
                  </a:lnTo>
                  <a:cubicBezTo>
                    <a:pt x="962968" y="0"/>
                    <a:pt x="988482" y="10568"/>
                    <a:pt x="1007294" y="29381"/>
                  </a:cubicBezTo>
                  <a:cubicBezTo>
                    <a:pt x="1026106" y="48193"/>
                    <a:pt x="1036675" y="73707"/>
                    <a:pt x="1036675" y="100311"/>
                  </a:cubicBezTo>
                  <a:lnTo>
                    <a:pt x="1036675" y="163915"/>
                  </a:lnTo>
                  <a:cubicBezTo>
                    <a:pt x="1036675" y="190519"/>
                    <a:pt x="1026106" y="216034"/>
                    <a:pt x="1007294" y="234846"/>
                  </a:cubicBezTo>
                  <a:cubicBezTo>
                    <a:pt x="988482" y="253658"/>
                    <a:pt x="962968" y="264226"/>
                    <a:pt x="936363" y="264226"/>
                  </a:cubicBezTo>
                  <a:lnTo>
                    <a:pt x="100311" y="264226"/>
                  </a:lnTo>
                  <a:cubicBezTo>
                    <a:pt x="73707" y="264226"/>
                    <a:pt x="48193" y="253658"/>
                    <a:pt x="29381" y="234846"/>
                  </a:cubicBezTo>
                  <a:cubicBezTo>
                    <a:pt x="10568" y="216034"/>
                    <a:pt x="0" y="190519"/>
                    <a:pt x="0" y="163915"/>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52" id="52"/>
            <p:cNvSpPr txBox="true"/>
            <p:nvPr/>
          </p:nvSpPr>
          <p:spPr>
            <a:xfrm>
              <a:off x="0" y="-66675"/>
              <a:ext cx="1036675"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Cleaned dataset</a:t>
              </a:r>
            </a:p>
            <a:p>
              <a:pPr algn="ctr">
                <a:lnSpc>
                  <a:spcPts val="1960"/>
                </a:lnSpc>
              </a:pPr>
              <a:r>
                <a:rPr lang="en-US" sz="1400" spc="35">
                  <a:solidFill>
                    <a:srgbClr val="FFFFFF"/>
                  </a:solidFill>
                  <a:latin typeface="Poppins"/>
                  <a:ea typeface="Poppins"/>
                  <a:cs typeface="Poppins"/>
                  <a:sym typeface="Poppins"/>
                </a:rPr>
                <a:t>(n =666 )</a:t>
              </a:r>
            </a:p>
          </p:txBody>
        </p:sp>
      </p:grpSp>
      <p:sp>
        <p:nvSpPr>
          <p:cNvPr name="AutoShape 53" id="53"/>
          <p:cNvSpPr/>
          <p:nvPr/>
        </p:nvSpPr>
        <p:spPr>
          <a:xfrm>
            <a:off x="9128904" y="3873566"/>
            <a:ext cx="0" cy="741950"/>
          </a:xfrm>
          <a:prstGeom prst="line">
            <a:avLst/>
          </a:prstGeom>
          <a:ln cap="flat" w="38100">
            <a:solidFill>
              <a:srgbClr val="000000"/>
            </a:solidFill>
            <a:prstDash val="solid"/>
            <a:headEnd type="none" len="sm" w="sm"/>
            <a:tailEnd type="arrow" len="sm" w="med"/>
          </a:ln>
        </p:spPr>
      </p:sp>
      <p:grpSp>
        <p:nvGrpSpPr>
          <p:cNvPr name="Group 54" id="54"/>
          <p:cNvGrpSpPr/>
          <p:nvPr/>
        </p:nvGrpSpPr>
        <p:grpSpPr>
          <a:xfrm rot="0">
            <a:off x="6827243" y="6157397"/>
            <a:ext cx="2204556" cy="1003234"/>
            <a:chOff x="0" y="0"/>
            <a:chExt cx="580624" cy="264226"/>
          </a:xfrm>
        </p:grpSpPr>
        <p:sp>
          <p:nvSpPr>
            <p:cNvPr name="Freeform 55" id="55"/>
            <p:cNvSpPr/>
            <p:nvPr/>
          </p:nvSpPr>
          <p:spPr>
            <a:xfrm flipH="false" flipV="false" rot="0">
              <a:off x="0" y="0"/>
              <a:ext cx="580624" cy="264226"/>
            </a:xfrm>
            <a:custGeom>
              <a:avLst/>
              <a:gdLst/>
              <a:ahLst/>
              <a:cxnLst/>
              <a:rect r="r" b="b" t="t" l="l"/>
              <a:pathLst>
                <a:path h="264226" w="580624">
                  <a:moveTo>
                    <a:pt x="132113" y="0"/>
                  </a:moveTo>
                  <a:lnTo>
                    <a:pt x="448511" y="0"/>
                  </a:lnTo>
                  <a:cubicBezTo>
                    <a:pt x="521475" y="0"/>
                    <a:pt x="580624" y="59149"/>
                    <a:pt x="580624" y="132113"/>
                  </a:cubicBezTo>
                  <a:lnTo>
                    <a:pt x="580624" y="132113"/>
                  </a:lnTo>
                  <a:cubicBezTo>
                    <a:pt x="580624" y="167152"/>
                    <a:pt x="566705" y="200755"/>
                    <a:pt x="541929" y="225531"/>
                  </a:cubicBezTo>
                  <a:cubicBezTo>
                    <a:pt x="517153" y="250307"/>
                    <a:pt x="483549" y="264226"/>
                    <a:pt x="448511" y="264226"/>
                  </a:cubicBezTo>
                  <a:lnTo>
                    <a:pt x="132113" y="264226"/>
                  </a:lnTo>
                  <a:cubicBezTo>
                    <a:pt x="59149" y="264226"/>
                    <a:pt x="0" y="205077"/>
                    <a:pt x="0" y="132113"/>
                  </a:cubicBezTo>
                  <a:lnTo>
                    <a:pt x="0" y="132113"/>
                  </a:lnTo>
                  <a:cubicBezTo>
                    <a:pt x="0" y="59149"/>
                    <a:pt x="59149" y="0"/>
                    <a:pt x="132113" y="0"/>
                  </a:cubicBezTo>
                  <a:close/>
                </a:path>
              </a:pathLst>
            </a:custGeom>
            <a:solidFill>
              <a:srgbClr val="5789A2"/>
            </a:solidFill>
          </p:spPr>
        </p:sp>
        <p:sp>
          <p:nvSpPr>
            <p:cNvPr name="TextBox 56" id="56"/>
            <p:cNvSpPr txBox="true"/>
            <p:nvPr/>
          </p:nvSpPr>
          <p:spPr>
            <a:xfrm>
              <a:off x="0" y="-66675"/>
              <a:ext cx="580624"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Features</a:t>
              </a:r>
            </a:p>
            <a:p>
              <a:pPr algn="ctr">
                <a:lnSpc>
                  <a:spcPts val="1960"/>
                </a:lnSpc>
              </a:pPr>
              <a:r>
                <a:rPr lang="en-US" sz="1400" spc="35">
                  <a:solidFill>
                    <a:srgbClr val="FFFFFF"/>
                  </a:solidFill>
                  <a:latin typeface="Poppins"/>
                  <a:ea typeface="Poppins"/>
                  <a:cs typeface="Poppins"/>
                  <a:sym typeface="Poppins"/>
                </a:rPr>
                <a:t>Un-encoded</a:t>
              </a:r>
            </a:p>
          </p:txBody>
        </p:sp>
      </p:grpSp>
      <p:grpSp>
        <p:nvGrpSpPr>
          <p:cNvPr name="Group 57" id="57"/>
          <p:cNvGrpSpPr/>
          <p:nvPr/>
        </p:nvGrpSpPr>
        <p:grpSpPr>
          <a:xfrm rot="0">
            <a:off x="9162087" y="6157397"/>
            <a:ext cx="2204556" cy="1003234"/>
            <a:chOff x="0" y="0"/>
            <a:chExt cx="580624" cy="264226"/>
          </a:xfrm>
        </p:grpSpPr>
        <p:sp>
          <p:nvSpPr>
            <p:cNvPr name="Freeform 58" id="58"/>
            <p:cNvSpPr/>
            <p:nvPr/>
          </p:nvSpPr>
          <p:spPr>
            <a:xfrm flipH="false" flipV="false" rot="0">
              <a:off x="0" y="0"/>
              <a:ext cx="580624" cy="264226"/>
            </a:xfrm>
            <a:custGeom>
              <a:avLst/>
              <a:gdLst/>
              <a:ahLst/>
              <a:cxnLst/>
              <a:rect r="r" b="b" t="t" l="l"/>
              <a:pathLst>
                <a:path h="264226" w="580624">
                  <a:moveTo>
                    <a:pt x="132113" y="0"/>
                  </a:moveTo>
                  <a:lnTo>
                    <a:pt x="448511" y="0"/>
                  </a:lnTo>
                  <a:cubicBezTo>
                    <a:pt x="521475" y="0"/>
                    <a:pt x="580624" y="59149"/>
                    <a:pt x="580624" y="132113"/>
                  </a:cubicBezTo>
                  <a:lnTo>
                    <a:pt x="580624" y="132113"/>
                  </a:lnTo>
                  <a:cubicBezTo>
                    <a:pt x="580624" y="167152"/>
                    <a:pt x="566705" y="200755"/>
                    <a:pt x="541929" y="225531"/>
                  </a:cubicBezTo>
                  <a:cubicBezTo>
                    <a:pt x="517153" y="250307"/>
                    <a:pt x="483549" y="264226"/>
                    <a:pt x="448511" y="264226"/>
                  </a:cubicBezTo>
                  <a:lnTo>
                    <a:pt x="132113" y="264226"/>
                  </a:lnTo>
                  <a:cubicBezTo>
                    <a:pt x="59149" y="264226"/>
                    <a:pt x="0" y="205077"/>
                    <a:pt x="0" y="132113"/>
                  </a:cubicBezTo>
                  <a:lnTo>
                    <a:pt x="0" y="132113"/>
                  </a:lnTo>
                  <a:cubicBezTo>
                    <a:pt x="0" y="59149"/>
                    <a:pt x="59149" y="0"/>
                    <a:pt x="132113" y="0"/>
                  </a:cubicBezTo>
                  <a:close/>
                </a:path>
              </a:pathLst>
            </a:custGeom>
            <a:solidFill>
              <a:srgbClr val="5789A2"/>
            </a:solidFill>
          </p:spPr>
        </p:sp>
        <p:sp>
          <p:nvSpPr>
            <p:cNvPr name="TextBox 59" id="59"/>
            <p:cNvSpPr txBox="true"/>
            <p:nvPr/>
          </p:nvSpPr>
          <p:spPr>
            <a:xfrm>
              <a:off x="0" y="-66675"/>
              <a:ext cx="580624"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Classes</a:t>
              </a:r>
            </a:p>
            <a:p>
              <a:pPr algn="ctr">
                <a:lnSpc>
                  <a:spcPts val="1960"/>
                </a:lnSpc>
              </a:pPr>
              <a:r>
                <a:rPr lang="en-US" sz="1400" spc="35">
                  <a:solidFill>
                    <a:srgbClr val="FFFFFF"/>
                  </a:solidFill>
                  <a:latin typeface="Poppins"/>
                  <a:ea typeface="Poppins"/>
                  <a:cs typeface="Poppins"/>
                  <a:sym typeface="Poppins"/>
                </a:rPr>
                <a:t>CN, MCI and AD</a:t>
              </a:r>
            </a:p>
          </p:txBody>
        </p:sp>
      </p:grpSp>
      <p:sp>
        <p:nvSpPr>
          <p:cNvPr name="AutoShape 60" id="60"/>
          <p:cNvSpPr/>
          <p:nvPr/>
        </p:nvSpPr>
        <p:spPr>
          <a:xfrm flipH="true">
            <a:off x="7929522" y="7400887"/>
            <a:ext cx="2368010" cy="0"/>
          </a:xfrm>
          <a:prstGeom prst="line">
            <a:avLst/>
          </a:prstGeom>
          <a:ln cap="flat" w="38100">
            <a:solidFill>
              <a:srgbClr val="000000"/>
            </a:solidFill>
            <a:prstDash val="solid"/>
            <a:headEnd type="none" len="sm" w="sm"/>
            <a:tailEnd type="none" len="sm" w="sm"/>
          </a:ln>
        </p:spPr>
      </p:sp>
      <p:sp>
        <p:nvSpPr>
          <p:cNvPr name="AutoShape 61" id="61"/>
          <p:cNvSpPr/>
          <p:nvPr/>
        </p:nvSpPr>
        <p:spPr>
          <a:xfrm flipH="true">
            <a:off x="7896355" y="5938671"/>
            <a:ext cx="2368010" cy="0"/>
          </a:xfrm>
          <a:prstGeom prst="line">
            <a:avLst/>
          </a:prstGeom>
          <a:ln cap="flat" w="38100">
            <a:solidFill>
              <a:srgbClr val="000000"/>
            </a:solidFill>
            <a:prstDash val="solid"/>
            <a:headEnd type="none" len="sm" w="sm"/>
            <a:tailEnd type="none" len="sm" w="sm"/>
          </a:ln>
        </p:spPr>
      </p:sp>
      <p:sp>
        <p:nvSpPr>
          <p:cNvPr name="AutoShape 62" id="62"/>
          <p:cNvSpPr/>
          <p:nvPr/>
        </p:nvSpPr>
        <p:spPr>
          <a:xfrm>
            <a:off x="7915405" y="5921092"/>
            <a:ext cx="0" cy="218727"/>
          </a:xfrm>
          <a:prstGeom prst="line">
            <a:avLst/>
          </a:prstGeom>
          <a:ln cap="flat" w="38100">
            <a:solidFill>
              <a:srgbClr val="000000"/>
            </a:solidFill>
            <a:prstDash val="solid"/>
            <a:headEnd type="none" len="sm" w="sm"/>
            <a:tailEnd type="arrow" len="sm" w="med"/>
          </a:ln>
        </p:spPr>
      </p:sp>
      <p:sp>
        <p:nvSpPr>
          <p:cNvPr name="AutoShape 63" id="63"/>
          <p:cNvSpPr/>
          <p:nvPr/>
        </p:nvSpPr>
        <p:spPr>
          <a:xfrm>
            <a:off x="10245315" y="5928265"/>
            <a:ext cx="0" cy="218727"/>
          </a:xfrm>
          <a:prstGeom prst="line">
            <a:avLst/>
          </a:prstGeom>
          <a:ln cap="flat" w="38100">
            <a:solidFill>
              <a:srgbClr val="000000"/>
            </a:solidFill>
            <a:prstDash val="solid"/>
            <a:headEnd type="none" len="sm" w="sm"/>
            <a:tailEnd type="arrow" len="sm" w="med"/>
          </a:ln>
        </p:spPr>
      </p:sp>
      <p:sp>
        <p:nvSpPr>
          <p:cNvPr name="AutoShape 64" id="64"/>
          <p:cNvSpPr/>
          <p:nvPr/>
        </p:nvSpPr>
        <p:spPr>
          <a:xfrm flipV="true">
            <a:off x="9109854" y="5611521"/>
            <a:ext cx="0" cy="309571"/>
          </a:xfrm>
          <a:prstGeom prst="line">
            <a:avLst/>
          </a:prstGeom>
          <a:ln cap="flat" w="38100">
            <a:solidFill>
              <a:srgbClr val="000000"/>
            </a:solidFill>
            <a:prstDash val="solid"/>
            <a:headEnd type="none" len="sm" w="sm"/>
            <a:tailEnd type="none" len="sm" w="sm"/>
          </a:ln>
        </p:spPr>
      </p:sp>
      <p:sp>
        <p:nvSpPr>
          <p:cNvPr name="AutoShape 65" id="65"/>
          <p:cNvSpPr/>
          <p:nvPr/>
        </p:nvSpPr>
        <p:spPr>
          <a:xfrm flipV="true">
            <a:off x="7948572" y="7178559"/>
            <a:ext cx="0" cy="222329"/>
          </a:xfrm>
          <a:prstGeom prst="line">
            <a:avLst/>
          </a:prstGeom>
          <a:ln cap="flat" w="38100">
            <a:solidFill>
              <a:srgbClr val="000000"/>
            </a:solidFill>
            <a:prstDash val="solid"/>
            <a:headEnd type="none" len="sm" w="sm"/>
            <a:tailEnd type="none" len="sm" w="sm"/>
          </a:ln>
        </p:spPr>
      </p:sp>
      <p:sp>
        <p:nvSpPr>
          <p:cNvPr name="AutoShape 66" id="66"/>
          <p:cNvSpPr/>
          <p:nvPr/>
        </p:nvSpPr>
        <p:spPr>
          <a:xfrm flipV="true">
            <a:off x="10278482" y="7178559"/>
            <a:ext cx="0" cy="222329"/>
          </a:xfrm>
          <a:prstGeom prst="line">
            <a:avLst/>
          </a:prstGeom>
          <a:ln cap="flat" w="38100">
            <a:solidFill>
              <a:srgbClr val="000000"/>
            </a:solidFill>
            <a:prstDash val="solid"/>
            <a:headEnd type="none" len="sm" w="sm"/>
            <a:tailEnd type="none" len="sm" w="sm"/>
          </a:ln>
        </p:spPr>
      </p:sp>
      <p:grpSp>
        <p:nvGrpSpPr>
          <p:cNvPr name="Group 67" id="67"/>
          <p:cNvGrpSpPr/>
          <p:nvPr/>
        </p:nvGrpSpPr>
        <p:grpSpPr>
          <a:xfrm rot="0">
            <a:off x="13323175" y="2870333"/>
            <a:ext cx="3936125" cy="1003234"/>
            <a:chOff x="0" y="0"/>
            <a:chExt cx="1036675" cy="264226"/>
          </a:xfrm>
        </p:grpSpPr>
        <p:sp>
          <p:nvSpPr>
            <p:cNvPr name="Freeform 68" id="68"/>
            <p:cNvSpPr/>
            <p:nvPr/>
          </p:nvSpPr>
          <p:spPr>
            <a:xfrm flipH="false" flipV="false" rot="0">
              <a:off x="0" y="0"/>
              <a:ext cx="1036675" cy="264226"/>
            </a:xfrm>
            <a:custGeom>
              <a:avLst/>
              <a:gdLst/>
              <a:ahLst/>
              <a:cxnLst/>
              <a:rect r="r" b="b" t="t" l="l"/>
              <a:pathLst>
                <a:path h="264226" w="1036675">
                  <a:moveTo>
                    <a:pt x="100311" y="0"/>
                  </a:moveTo>
                  <a:lnTo>
                    <a:pt x="936363" y="0"/>
                  </a:lnTo>
                  <a:cubicBezTo>
                    <a:pt x="962968" y="0"/>
                    <a:pt x="988482" y="10568"/>
                    <a:pt x="1007294" y="29381"/>
                  </a:cubicBezTo>
                  <a:cubicBezTo>
                    <a:pt x="1026106" y="48193"/>
                    <a:pt x="1036675" y="73707"/>
                    <a:pt x="1036675" y="100311"/>
                  </a:cubicBezTo>
                  <a:lnTo>
                    <a:pt x="1036675" y="163915"/>
                  </a:lnTo>
                  <a:cubicBezTo>
                    <a:pt x="1036675" y="190519"/>
                    <a:pt x="1026106" y="216034"/>
                    <a:pt x="1007294" y="234846"/>
                  </a:cubicBezTo>
                  <a:cubicBezTo>
                    <a:pt x="988482" y="253658"/>
                    <a:pt x="962968" y="264226"/>
                    <a:pt x="936363" y="264226"/>
                  </a:cubicBezTo>
                  <a:lnTo>
                    <a:pt x="100311" y="264226"/>
                  </a:lnTo>
                  <a:cubicBezTo>
                    <a:pt x="73707" y="264226"/>
                    <a:pt x="48193" y="253658"/>
                    <a:pt x="29381" y="234846"/>
                  </a:cubicBezTo>
                  <a:cubicBezTo>
                    <a:pt x="10568" y="216034"/>
                    <a:pt x="0" y="190519"/>
                    <a:pt x="0" y="163915"/>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69" id="69"/>
            <p:cNvSpPr txBox="true"/>
            <p:nvPr/>
          </p:nvSpPr>
          <p:spPr>
            <a:xfrm>
              <a:off x="0" y="-66675"/>
              <a:ext cx="1036675"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Null handling</a:t>
              </a:r>
            </a:p>
          </p:txBody>
        </p:sp>
      </p:grpSp>
      <p:grpSp>
        <p:nvGrpSpPr>
          <p:cNvPr name="Group 70" id="70"/>
          <p:cNvGrpSpPr/>
          <p:nvPr/>
        </p:nvGrpSpPr>
        <p:grpSpPr>
          <a:xfrm rot="0">
            <a:off x="13276867" y="4494670"/>
            <a:ext cx="3936125" cy="1085698"/>
            <a:chOff x="0" y="0"/>
            <a:chExt cx="1036675" cy="285945"/>
          </a:xfrm>
        </p:grpSpPr>
        <p:sp>
          <p:nvSpPr>
            <p:cNvPr name="Freeform 71" id="71"/>
            <p:cNvSpPr/>
            <p:nvPr/>
          </p:nvSpPr>
          <p:spPr>
            <a:xfrm flipH="false" flipV="false" rot="0">
              <a:off x="0" y="0"/>
              <a:ext cx="1036675" cy="285945"/>
            </a:xfrm>
            <a:custGeom>
              <a:avLst/>
              <a:gdLst/>
              <a:ahLst/>
              <a:cxnLst/>
              <a:rect r="r" b="b" t="t" l="l"/>
              <a:pathLst>
                <a:path h="285945" w="1036675">
                  <a:moveTo>
                    <a:pt x="100311" y="0"/>
                  </a:moveTo>
                  <a:lnTo>
                    <a:pt x="936363" y="0"/>
                  </a:lnTo>
                  <a:cubicBezTo>
                    <a:pt x="962968" y="0"/>
                    <a:pt x="988482" y="10568"/>
                    <a:pt x="1007294" y="29381"/>
                  </a:cubicBezTo>
                  <a:cubicBezTo>
                    <a:pt x="1026106" y="48193"/>
                    <a:pt x="1036675" y="73707"/>
                    <a:pt x="1036675" y="100311"/>
                  </a:cubicBezTo>
                  <a:lnTo>
                    <a:pt x="1036675" y="185634"/>
                  </a:lnTo>
                  <a:cubicBezTo>
                    <a:pt x="1036675" y="212238"/>
                    <a:pt x="1026106" y="237753"/>
                    <a:pt x="1007294" y="256565"/>
                  </a:cubicBezTo>
                  <a:cubicBezTo>
                    <a:pt x="988482" y="275377"/>
                    <a:pt x="962968" y="285945"/>
                    <a:pt x="936363" y="285945"/>
                  </a:cubicBezTo>
                  <a:lnTo>
                    <a:pt x="100311" y="285945"/>
                  </a:lnTo>
                  <a:cubicBezTo>
                    <a:pt x="73707" y="285945"/>
                    <a:pt x="48193" y="275377"/>
                    <a:pt x="29381" y="256565"/>
                  </a:cubicBezTo>
                  <a:cubicBezTo>
                    <a:pt x="10568" y="237753"/>
                    <a:pt x="0" y="212238"/>
                    <a:pt x="0" y="185634"/>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72" id="72"/>
            <p:cNvSpPr txBox="true"/>
            <p:nvPr/>
          </p:nvSpPr>
          <p:spPr>
            <a:xfrm>
              <a:off x="0" y="-66675"/>
              <a:ext cx="1036675" cy="352620"/>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Scaling, Imputation, One-hot encoding</a:t>
              </a:r>
            </a:p>
          </p:txBody>
        </p:sp>
      </p:grpSp>
      <p:sp>
        <p:nvSpPr>
          <p:cNvPr name="AutoShape 73" id="73"/>
          <p:cNvSpPr/>
          <p:nvPr/>
        </p:nvSpPr>
        <p:spPr>
          <a:xfrm>
            <a:off x="15310288" y="3873566"/>
            <a:ext cx="0" cy="621103"/>
          </a:xfrm>
          <a:prstGeom prst="line">
            <a:avLst/>
          </a:prstGeom>
          <a:ln cap="flat" w="38100">
            <a:solidFill>
              <a:srgbClr val="000000"/>
            </a:solidFill>
            <a:prstDash val="solid"/>
            <a:headEnd type="none" len="sm" w="sm"/>
            <a:tailEnd type="arrow" len="sm" w="med"/>
          </a:ln>
        </p:spPr>
      </p:sp>
      <p:grpSp>
        <p:nvGrpSpPr>
          <p:cNvPr name="Group 74" id="74"/>
          <p:cNvGrpSpPr/>
          <p:nvPr/>
        </p:nvGrpSpPr>
        <p:grpSpPr>
          <a:xfrm rot="0">
            <a:off x="12968171" y="5622515"/>
            <a:ext cx="4553517" cy="2428913"/>
            <a:chOff x="0" y="0"/>
            <a:chExt cx="6071355" cy="3238550"/>
          </a:xfrm>
        </p:grpSpPr>
        <p:sp>
          <p:nvSpPr>
            <p:cNvPr name="AutoShape 75" id="75"/>
            <p:cNvSpPr/>
            <p:nvPr/>
          </p:nvSpPr>
          <p:spPr>
            <a:xfrm flipH="true">
              <a:off x="1469704" y="1168820"/>
              <a:ext cx="3157347" cy="0"/>
            </a:xfrm>
            <a:prstGeom prst="line">
              <a:avLst/>
            </a:prstGeom>
            <a:ln cap="flat" w="50800">
              <a:solidFill>
                <a:srgbClr val="000000"/>
              </a:solidFill>
              <a:prstDash val="solid"/>
              <a:headEnd type="none" len="sm" w="sm"/>
              <a:tailEnd type="none" len="sm" w="sm"/>
            </a:ln>
          </p:spPr>
        </p:sp>
        <p:sp>
          <p:nvSpPr>
            <p:cNvPr name="AutoShape 76" id="76"/>
            <p:cNvSpPr/>
            <p:nvPr/>
          </p:nvSpPr>
          <p:spPr>
            <a:xfrm>
              <a:off x="1495104" y="1168820"/>
              <a:ext cx="0" cy="291635"/>
            </a:xfrm>
            <a:prstGeom prst="line">
              <a:avLst/>
            </a:prstGeom>
            <a:ln cap="flat" w="50800">
              <a:solidFill>
                <a:srgbClr val="000000"/>
              </a:solidFill>
              <a:prstDash val="solid"/>
              <a:headEnd type="none" len="sm" w="sm"/>
              <a:tailEnd type="arrow" len="sm" w="med"/>
            </a:ln>
          </p:spPr>
        </p:sp>
        <p:sp>
          <p:nvSpPr>
            <p:cNvPr name="AutoShape 77" id="77"/>
            <p:cNvSpPr/>
            <p:nvPr/>
          </p:nvSpPr>
          <p:spPr>
            <a:xfrm>
              <a:off x="4601651" y="1154945"/>
              <a:ext cx="0" cy="291635"/>
            </a:xfrm>
            <a:prstGeom prst="line">
              <a:avLst/>
            </a:prstGeom>
            <a:ln cap="flat" w="50800">
              <a:solidFill>
                <a:srgbClr val="000000"/>
              </a:solidFill>
              <a:prstDash val="solid"/>
              <a:headEnd type="none" len="sm" w="sm"/>
              <a:tailEnd type="arrow" len="sm" w="med"/>
            </a:ln>
          </p:spPr>
        </p:sp>
        <p:sp>
          <p:nvSpPr>
            <p:cNvPr name="AutoShape 78" id="78"/>
            <p:cNvSpPr/>
            <p:nvPr/>
          </p:nvSpPr>
          <p:spPr>
            <a:xfrm flipV="true">
              <a:off x="3113124" y="0"/>
              <a:ext cx="0" cy="1154945"/>
            </a:xfrm>
            <a:prstGeom prst="line">
              <a:avLst/>
            </a:prstGeom>
            <a:ln cap="flat" w="50800">
              <a:solidFill>
                <a:srgbClr val="000000"/>
              </a:solidFill>
              <a:prstDash val="solid"/>
              <a:headEnd type="none" len="sm" w="sm"/>
              <a:tailEnd type="none" len="sm" w="sm"/>
            </a:ln>
          </p:spPr>
        </p:sp>
        <p:grpSp>
          <p:nvGrpSpPr>
            <p:cNvPr name="Group 79" id="79"/>
            <p:cNvGrpSpPr/>
            <p:nvPr/>
          </p:nvGrpSpPr>
          <p:grpSpPr>
            <a:xfrm rot="0">
              <a:off x="0" y="1508336"/>
              <a:ext cx="2939408" cy="1730214"/>
              <a:chOff x="0" y="0"/>
              <a:chExt cx="580624" cy="341771"/>
            </a:xfrm>
          </p:grpSpPr>
          <p:sp>
            <p:nvSpPr>
              <p:cNvPr name="Freeform 80" id="80"/>
              <p:cNvSpPr/>
              <p:nvPr/>
            </p:nvSpPr>
            <p:spPr>
              <a:xfrm flipH="false" flipV="false" rot="0">
                <a:off x="0" y="0"/>
                <a:ext cx="580624" cy="341771"/>
              </a:xfrm>
              <a:custGeom>
                <a:avLst/>
                <a:gdLst/>
                <a:ahLst/>
                <a:cxnLst/>
                <a:rect r="r" b="b" t="t" l="l"/>
                <a:pathLst>
                  <a:path h="341771" w="580624">
                    <a:moveTo>
                      <a:pt x="170885" y="0"/>
                    </a:moveTo>
                    <a:lnTo>
                      <a:pt x="409739" y="0"/>
                    </a:lnTo>
                    <a:cubicBezTo>
                      <a:pt x="455060" y="0"/>
                      <a:pt x="498526" y="18004"/>
                      <a:pt x="530573" y="50051"/>
                    </a:cubicBezTo>
                    <a:cubicBezTo>
                      <a:pt x="562620" y="82098"/>
                      <a:pt x="580624" y="125564"/>
                      <a:pt x="580624" y="170885"/>
                    </a:cubicBezTo>
                    <a:lnTo>
                      <a:pt x="580624" y="170885"/>
                    </a:lnTo>
                    <a:cubicBezTo>
                      <a:pt x="580624" y="216207"/>
                      <a:pt x="562620" y="259672"/>
                      <a:pt x="530573" y="291720"/>
                    </a:cubicBezTo>
                    <a:cubicBezTo>
                      <a:pt x="498526" y="323767"/>
                      <a:pt x="455060" y="341771"/>
                      <a:pt x="409739" y="341771"/>
                    </a:cubicBezTo>
                    <a:lnTo>
                      <a:pt x="170885" y="341771"/>
                    </a:lnTo>
                    <a:cubicBezTo>
                      <a:pt x="125564" y="341771"/>
                      <a:pt x="82098" y="323767"/>
                      <a:pt x="50051" y="291720"/>
                    </a:cubicBezTo>
                    <a:cubicBezTo>
                      <a:pt x="18004" y="259672"/>
                      <a:pt x="0" y="216207"/>
                      <a:pt x="0" y="170885"/>
                    </a:cubicBezTo>
                    <a:lnTo>
                      <a:pt x="0" y="170885"/>
                    </a:lnTo>
                    <a:cubicBezTo>
                      <a:pt x="0" y="125564"/>
                      <a:pt x="18004" y="82098"/>
                      <a:pt x="50051" y="50051"/>
                    </a:cubicBezTo>
                    <a:cubicBezTo>
                      <a:pt x="82098" y="18004"/>
                      <a:pt x="125564" y="0"/>
                      <a:pt x="170885" y="0"/>
                    </a:cubicBezTo>
                    <a:close/>
                  </a:path>
                </a:pathLst>
              </a:custGeom>
              <a:solidFill>
                <a:srgbClr val="5789A2"/>
              </a:solidFill>
            </p:spPr>
          </p:sp>
          <p:sp>
            <p:nvSpPr>
              <p:cNvPr name="TextBox 81" id="81"/>
              <p:cNvSpPr txBox="true"/>
              <p:nvPr/>
            </p:nvSpPr>
            <p:spPr>
              <a:xfrm>
                <a:off x="0" y="-66675"/>
                <a:ext cx="580624" cy="408446"/>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ML-Ready Features</a:t>
                </a:r>
              </a:p>
              <a:p>
                <a:pPr algn="ctr">
                  <a:lnSpc>
                    <a:spcPts val="1960"/>
                  </a:lnSpc>
                </a:pPr>
                <a:r>
                  <a:rPr lang="en-US" sz="1400" spc="35">
                    <a:solidFill>
                      <a:srgbClr val="FFFFFF"/>
                    </a:solidFill>
                    <a:latin typeface="Poppins"/>
                    <a:ea typeface="Poppins"/>
                    <a:cs typeface="Poppins"/>
                    <a:sym typeface="Poppins"/>
                  </a:rPr>
                  <a:t>708</a:t>
                </a:r>
              </a:p>
            </p:txBody>
          </p:sp>
        </p:grpSp>
        <p:grpSp>
          <p:nvGrpSpPr>
            <p:cNvPr name="Group 82" id="82"/>
            <p:cNvGrpSpPr/>
            <p:nvPr/>
          </p:nvGrpSpPr>
          <p:grpSpPr>
            <a:xfrm rot="0">
              <a:off x="3131947" y="1508336"/>
              <a:ext cx="2939408" cy="1730214"/>
              <a:chOff x="0" y="0"/>
              <a:chExt cx="580624" cy="341771"/>
            </a:xfrm>
          </p:grpSpPr>
          <p:sp>
            <p:nvSpPr>
              <p:cNvPr name="Freeform 83" id="83"/>
              <p:cNvSpPr/>
              <p:nvPr/>
            </p:nvSpPr>
            <p:spPr>
              <a:xfrm flipH="false" flipV="false" rot="0">
                <a:off x="0" y="0"/>
                <a:ext cx="580624" cy="341771"/>
              </a:xfrm>
              <a:custGeom>
                <a:avLst/>
                <a:gdLst/>
                <a:ahLst/>
                <a:cxnLst/>
                <a:rect r="r" b="b" t="t" l="l"/>
                <a:pathLst>
                  <a:path h="341771" w="580624">
                    <a:moveTo>
                      <a:pt x="170885" y="0"/>
                    </a:moveTo>
                    <a:lnTo>
                      <a:pt x="409739" y="0"/>
                    </a:lnTo>
                    <a:cubicBezTo>
                      <a:pt x="455060" y="0"/>
                      <a:pt x="498526" y="18004"/>
                      <a:pt x="530573" y="50051"/>
                    </a:cubicBezTo>
                    <a:cubicBezTo>
                      <a:pt x="562620" y="82098"/>
                      <a:pt x="580624" y="125564"/>
                      <a:pt x="580624" y="170885"/>
                    </a:cubicBezTo>
                    <a:lnTo>
                      <a:pt x="580624" y="170885"/>
                    </a:lnTo>
                    <a:cubicBezTo>
                      <a:pt x="580624" y="216207"/>
                      <a:pt x="562620" y="259672"/>
                      <a:pt x="530573" y="291720"/>
                    </a:cubicBezTo>
                    <a:cubicBezTo>
                      <a:pt x="498526" y="323767"/>
                      <a:pt x="455060" y="341771"/>
                      <a:pt x="409739" y="341771"/>
                    </a:cubicBezTo>
                    <a:lnTo>
                      <a:pt x="170885" y="341771"/>
                    </a:lnTo>
                    <a:cubicBezTo>
                      <a:pt x="125564" y="341771"/>
                      <a:pt x="82098" y="323767"/>
                      <a:pt x="50051" y="291720"/>
                    </a:cubicBezTo>
                    <a:cubicBezTo>
                      <a:pt x="18004" y="259672"/>
                      <a:pt x="0" y="216207"/>
                      <a:pt x="0" y="170885"/>
                    </a:cubicBezTo>
                    <a:lnTo>
                      <a:pt x="0" y="170885"/>
                    </a:lnTo>
                    <a:cubicBezTo>
                      <a:pt x="0" y="125564"/>
                      <a:pt x="18004" y="82098"/>
                      <a:pt x="50051" y="50051"/>
                    </a:cubicBezTo>
                    <a:cubicBezTo>
                      <a:pt x="82098" y="18004"/>
                      <a:pt x="125564" y="0"/>
                      <a:pt x="170885" y="0"/>
                    </a:cubicBezTo>
                    <a:close/>
                  </a:path>
                </a:pathLst>
              </a:custGeom>
              <a:solidFill>
                <a:srgbClr val="5789A2"/>
              </a:solidFill>
            </p:spPr>
          </p:sp>
          <p:sp>
            <p:nvSpPr>
              <p:cNvPr name="TextBox 84" id="84"/>
              <p:cNvSpPr txBox="true"/>
              <p:nvPr/>
            </p:nvSpPr>
            <p:spPr>
              <a:xfrm>
                <a:off x="0" y="-66675"/>
                <a:ext cx="580624" cy="408446"/>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ML-Ready Classes</a:t>
                </a:r>
              </a:p>
              <a:p>
                <a:pPr algn="ctr">
                  <a:lnSpc>
                    <a:spcPts val="1960"/>
                  </a:lnSpc>
                </a:pPr>
                <a:r>
                  <a:rPr lang="en-US" sz="1400" spc="35">
                    <a:solidFill>
                      <a:srgbClr val="FFFFFF"/>
                    </a:solidFill>
                    <a:latin typeface="Poppins"/>
                    <a:ea typeface="Poppins"/>
                    <a:cs typeface="Poppins"/>
                    <a:sym typeface="Poppins"/>
                  </a:rPr>
                  <a:t>0=CN, 1=MCI, 2=AD</a:t>
                </a:r>
              </a:p>
            </p:txBody>
          </p:sp>
        </p:gr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61364" y="1851205"/>
            <a:ext cx="4975196" cy="7870646"/>
            <a:chOff x="0" y="0"/>
            <a:chExt cx="1116902" cy="1766913"/>
          </a:xfrm>
        </p:grpSpPr>
        <p:sp>
          <p:nvSpPr>
            <p:cNvPr name="Freeform 3" id="3"/>
            <p:cNvSpPr/>
            <p:nvPr/>
          </p:nvSpPr>
          <p:spPr>
            <a:xfrm flipH="false" flipV="false" rot="0">
              <a:off x="0" y="0"/>
              <a:ext cx="1116902" cy="1766913"/>
            </a:xfrm>
            <a:custGeom>
              <a:avLst/>
              <a:gdLst/>
              <a:ahLst/>
              <a:cxnLst/>
              <a:rect r="r" b="b" t="t" l="l"/>
              <a:pathLst>
                <a:path h="1766913" w="1116902">
                  <a:moveTo>
                    <a:pt x="0" y="0"/>
                  </a:moveTo>
                  <a:lnTo>
                    <a:pt x="1116902" y="0"/>
                  </a:lnTo>
                  <a:lnTo>
                    <a:pt x="1116902" y="1766913"/>
                  </a:lnTo>
                  <a:lnTo>
                    <a:pt x="0" y="1766913"/>
                  </a:lnTo>
                  <a:close/>
                </a:path>
              </a:pathLst>
            </a:custGeom>
            <a:solidFill>
              <a:srgbClr val="F4F4F4"/>
            </a:solidFill>
            <a:ln w="38100" cap="sq">
              <a:solidFill>
                <a:srgbClr val="F4F4F4"/>
              </a:solidFill>
              <a:prstDash val="solid"/>
              <a:miter/>
            </a:ln>
          </p:spPr>
        </p:sp>
        <p:sp>
          <p:nvSpPr>
            <p:cNvPr name="TextBox 4" id="4"/>
            <p:cNvSpPr txBox="true"/>
            <p:nvPr/>
          </p:nvSpPr>
          <p:spPr>
            <a:xfrm>
              <a:off x="0" y="-66675"/>
              <a:ext cx="1116902" cy="1833588"/>
            </a:xfrm>
            <a:prstGeom prst="rect">
              <a:avLst/>
            </a:prstGeom>
          </p:spPr>
          <p:txBody>
            <a:bodyPr anchor="t" rtlCol="false" tIns="50800" lIns="50800" bIns="50800" rIns="50800"/>
            <a:lstStyle/>
            <a:p>
              <a:pPr algn="ctr">
                <a:lnSpc>
                  <a:spcPts val="3359"/>
                </a:lnSpc>
              </a:pPr>
              <a:r>
                <a:rPr lang="en-US" b="true" sz="2400" spc="60">
                  <a:solidFill>
                    <a:srgbClr val="1D4355"/>
                  </a:solidFill>
                  <a:latin typeface="Poppins Semi-Bold"/>
                  <a:ea typeface="Poppins Semi-Bold"/>
                  <a:cs typeface="Poppins Semi-Bold"/>
                  <a:sym typeface="Poppins Semi-Bold"/>
                </a:rPr>
                <a:t>Initial Training</a:t>
              </a:r>
            </a:p>
          </p:txBody>
        </p:sp>
      </p:grpSp>
      <p:grpSp>
        <p:nvGrpSpPr>
          <p:cNvPr name="Group 5" id="5"/>
          <p:cNvGrpSpPr/>
          <p:nvPr/>
        </p:nvGrpSpPr>
        <p:grpSpPr>
          <a:xfrm rot="0">
            <a:off x="6656402" y="1851205"/>
            <a:ext cx="4975196" cy="7870646"/>
            <a:chOff x="0" y="0"/>
            <a:chExt cx="1116902" cy="1766913"/>
          </a:xfrm>
        </p:grpSpPr>
        <p:sp>
          <p:nvSpPr>
            <p:cNvPr name="Freeform 6" id="6"/>
            <p:cNvSpPr/>
            <p:nvPr/>
          </p:nvSpPr>
          <p:spPr>
            <a:xfrm flipH="false" flipV="false" rot="0">
              <a:off x="0" y="0"/>
              <a:ext cx="1116902" cy="1766913"/>
            </a:xfrm>
            <a:custGeom>
              <a:avLst/>
              <a:gdLst/>
              <a:ahLst/>
              <a:cxnLst/>
              <a:rect r="r" b="b" t="t" l="l"/>
              <a:pathLst>
                <a:path h="1766913" w="1116902">
                  <a:moveTo>
                    <a:pt x="0" y="0"/>
                  </a:moveTo>
                  <a:lnTo>
                    <a:pt x="1116902" y="0"/>
                  </a:lnTo>
                  <a:lnTo>
                    <a:pt x="1116902" y="1766913"/>
                  </a:lnTo>
                  <a:lnTo>
                    <a:pt x="0" y="1766913"/>
                  </a:lnTo>
                  <a:close/>
                </a:path>
              </a:pathLst>
            </a:custGeom>
            <a:solidFill>
              <a:srgbClr val="F4F4F4"/>
            </a:solidFill>
            <a:ln w="38100" cap="sq">
              <a:solidFill>
                <a:srgbClr val="F4F4F4"/>
              </a:solidFill>
              <a:prstDash val="solid"/>
              <a:miter/>
            </a:ln>
          </p:spPr>
        </p:sp>
        <p:sp>
          <p:nvSpPr>
            <p:cNvPr name="TextBox 7" id="7"/>
            <p:cNvSpPr txBox="true"/>
            <p:nvPr/>
          </p:nvSpPr>
          <p:spPr>
            <a:xfrm>
              <a:off x="0" y="-66675"/>
              <a:ext cx="1116902" cy="1833588"/>
            </a:xfrm>
            <a:prstGeom prst="rect">
              <a:avLst/>
            </a:prstGeom>
          </p:spPr>
          <p:txBody>
            <a:bodyPr anchor="t" rtlCol="false" tIns="50800" lIns="50800" bIns="50800" rIns="50800"/>
            <a:lstStyle/>
            <a:p>
              <a:pPr algn="ctr">
                <a:lnSpc>
                  <a:spcPts val="3359"/>
                </a:lnSpc>
              </a:pPr>
              <a:r>
                <a:rPr lang="en-US" b="true" sz="2400" spc="60">
                  <a:solidFill>
                    <a:srgbClr val="1D4355"/>
                  </a:solidFill>
                  <a:latin typeface="Poppins Semi-Bold"/>
                  <a:ea typeface="Poppins Semi-Bold"/>
                  <a:cs typeface="Poppins Semi-Bold"/>
                  <a:sym typeface="Poppins Semi-Bold"/>
                </a:rPr>
                <a:t>Oversampling &amp; Hyperparameter Tuning</a:t>
              </a:r>
            </a:p>
            <a:p>
              <a:pPr algn="ctr">
                <a:lnSpc>
                  <a:spcPts val="3359"/>
                </a:lnSpc>
              </a:pPr>
            </a:p>
          </p:txBody>
        </p:sp>
      </p:grpSp>
      <p:grpSp>
        <p:nvGrpSpPr>
          <p:cNvPr name="Group 8" id="8"/>
          <p:cNvGrpSpPr/>
          <p:nvPr/>
        </p:nvGrpSpPr>
        <p:grpSpPr>
          <a:xfrm rot="0">
            <a:off x="12755548" y="1851205"/>
            <a:ext cx="4975196" cy="7870646"/>
            <a:chOff x="0" y="0"/>
            <a:chExt cx="1116902" cy="1766913"/>
          </a:xfrm>
        </p:grpSpPr>
        <p:sp>
          <p:nvSpPr>
            <p:cNvPr name="Freeform 9" id="9"/>
            <p:cNvSpPr/>
            <p:nvPr/>
          </p:nvSpPr>
          <p:spPr>
            <a:xfrm flipH="false" flipV="false" rot="0">
              <a:off x="0" y="0"/>
              <a:ext cx="1116902" cy="1766913"/>
            </a:xfrm>
            <a:custGeom>
              <a:avLst/>
              <a:gdLst/>
              <a:ahLst/>
              <a:cxnLst/>
              <a:rect r="r" b="b" t="t" l="l"/>
              <a:pathLst>
                <a:path h="1766913" w="1116902">
                  <a:moveTo>
                    <a:pt x="0" y="0"/>
                  </a:moveTo>
                  <a:lnTo>
                    <a:pt x="1116902" y="0"/>
                  </a:lnTo>
                  <a:lnTo>
                    <a:pt x="1116902" y="1766913"/>
                  </a:lnTo>
                  <a:lnTo>
                    <a:pt x="0" y="1766913"/>
                  </a:lnTo>
                  <a:close/>
                </a:path>
              </a:pathLst>
            </a:custGeom>
            <a:solidFill>
              <a:srgbClr val="F4F4F4"/>
            </a:solidFill>
            <a:ln w="38100" cap="sq">
              <a:solidFill>
                <a:srgbClr val="F4F4F4"/>
              </a:solidFill>
              <a:prstDash val="solid"/>
              <a:miter/>
            </a:ln>
          </p:spPr>
        </p:sp>
        <p:sp>
          <p:nvSpPr>
            <p:cNvPr name="TextBox 10" id="10"/>
            <p:cNvSpPr txBox="true"/>
            <p:nvPr/>
          </p:nvSpPr>
          <p:spPr>
            <a:xfrm>
              <a:off x="0" y="-66675"/>
              <a:ext cx="1116902" cy="1833588"/>
            </a:xfrm>
            <a:prstGeom prst="rect">
              <a:avLst/>
            </a:prstGeom>
          </p:spPr>
          <p:txBody>
            <a:bodyPr anchor="t" rtlCol="false" tIns="50800" lIns="50800" bIns="50800" rIns="50800"/>
            <a:lstStyle/>
            <a:p>
              <a:pPr algn="ctr">
                <a:lnSpc>
                  <a:spcPts val="3359"/>
                </a:lnSpc>
              </a:pPr>
              <a:r>
                <a:rPr lang="en-US" b="true" sz="2400" spc="60">
                  <a:solidFill>
                    <a:srgbClr val="1D4355"/>
                  </a:solidFill>
                  <a:latin typeface="Poppins Semi-Bold"/>
                  <a:ea typeface="Poppins Semi-Bold"/>
                  <a:cs typeface="Poppins Semi-Bold"/>
                  <a:sym typeface="Poppins Semi-Bold"/>
                </a:rPr>
                <a:t>Evaluation &amp; Interpretability</a:t>
              </a:r>
            </a:p>
          </p:txBody>
        </p:sp>
      </p:grpSp>
      <p:grpSp>
        <p:nvGrpSpPr>
          <p:cNvPr name="Group 11" id="11"/>
          <p:cNvGrpSpPr/>
          <p:nvPr/>
        </p:nvGrpSpPr>
        <p:grpSpPr>
          <a:xfrm rot="0">
            <a:off x="1080900" y="2747356"/>
            <a:ext cx="3936125" cy="851481"/>
            <a:chOff x="0" y="0"/>
            <a:chExt cx="1036675" cy="224258"/>
          </a:xfrm>
        </p:grpSpPr>
        <p:sp>
          <p:nvSpPr>
            <p:cNvPr name="Freeform 12" id="12"/>
            <p:cNvSpPr/>
            <p:nvPr/>
          </p:nvSpPr>
          <p:spPr>
            <a:xfrm flipH="false" flipV="false" rot="0">
              <a:off x="0" y="0"/>
              <a:ext cx="1036675" cy="224259"/>
            </a:xfrm>
            <a:custGeom>
              <a:avLst/>
              <a:gdLst/>
              <a:ahLst/>
              <a:cxnLst/>
              <a:rect r="r" b="b" t="t" l="l"/>
              <a:pathLst>
                <a:path h="224259" w="1036675">
                  <a:moveTo>
                    <a:pt x="100311" y="0"/>
                  </a:moveTo>
                  <a:lnTo>
                    <a:pt x="936363" y="0"/>
                  </a:lnTo>
                  <a:cubicBezTo>
                    <a:pt x="962968" y="0"/>
                    <a:pt x="988482" y="10568"/>
                    <a:pt x="1007294" y="29381"/>
                  </a:cubicBezTo>
                  <a:cubicBezTo>
                    <a:pt x="1026106" y="48193"/>
                    <a:pt x="1036675" y="73707"/>
                    <a:pt x="1036675" y="100311"/>
                  </a:cubicBezTo>
                  <a:lnTo>
                    <a:pt x="1036675" y="123947"/>
                  </a:lnTo>
                  <a:cubicBezTo>
                    <a:pt x="1036675" y="150551"/>
                    <a:pt x="1026106" y="176066"/>
                    <a:pt x="1007294" y="194878"/>
                  </a:cubicBezTo>
                  <a:cubicBezTo>
                    <a:pt x="988482" y="213690"/>
                    <a:pt x="962968" y="224259"/>
                    <a:pt x="936363" y="224259"/>
                  </a:cubicBezTo>
                  <a:lnTo>
                    <a:pt x="100311" y="224259"/>
                  </a:lnTo>
                  <a:cubicBezTo>
                    <a:pt x="73707" y="224259"/>
                    <a:pt x="48193" y="213690"/>
                    <a:pt x="29381" y="194878"/>
                  </a:cubicBezTo>
                  <a:cubicBezTo>
                    <a:pt x="10568" y="176066"/>
                    <a:pt x="0" y="150551"/>
                    <a:pt x="0" y="123947"/>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13" id="13"/>
            <p:cNvSpPr txBox="true"/>
            <p:nvPr/>
          </p:nvSpPr>
          <p:spPr>
            <a:xfrm>
              <a:off x="0" y="-66675"/>
              <a:ext cx="1036675" cy="290933"/>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Logistic Regression</a:t>
              </a:r>
            </a:p>
            <a:p>
              <a:pPr algn="ctr">
                <a:lnSpc>
                  <a:spcPts val="1680"/>
                </a:lnSpc>
              </a:pPr>
              <a:r>
                <a:rPr lang="en-US" sz="1200" spc="30">
                  <a:solidFill>
                    <a:srgbClr val="FFFFFF"/>
                  </a:solidFill>
                  <a:latin typeface="Poppins"/>
                  <a:ea typeface="Poppins"/>
                  <a:cs typeface="Poppins"/>
                  <a:sym typeface="Poppins"/>
                </a:rPr>
                <a:t>max_iter=1000, class_weight=balanced</a:t>
              </a:r>
            </a:p>
          </p:txBody>
        </p:sp>
      </p:grpSp>
      <p:sp>
        <p:nvSpPr>
          <p:cNvPr name="AutoShape 14" id="14"/>
          <p:cNvSpPr/>
          <p:nvPr/>
        </p:nvSpPr>
        <p:spPr>
          <a:xfrm>
            <a:off x="5037998" y="4260603"/>
            <a:ext cx="1056429" cy="0"/>
          </a:xfrm>
          <a:prstGeom prst="line">
            <a:avLst/>
          </a:prstGeom>
          <a:ln cap="flat" w="38100">
            <a:solidFill>
              <a:srgbClr val="000000"/>
            </a:solidFill>
            <a:prstDash val="solid"/>
            <a:headEnd type="none" len="sm" w="sm"/>
            <a:tailEnd type="none" len="sm" w="sm"/>
          </a:ln>
        </p:spPr>
      </p:sp>
      <p:sp>
        <p:nvSpPr>
          <p:cNvPr name="AutoShape 15" id="15"/>
          <p:cNvSpPr/>
          <p:nvPr/>
        </p:nvSpPr>
        <p:spPr>
          <a:xfrm>
            <a:off x="5037998" y="6535670"/>
            <a:ext cx="1056429" cy="0"/>
          </a:xfrm>
          <a:prstGeom prst="line">
            <a:avLst/>
          </a:prstGeom>
          <a:ln cap="flat" w="38100">
            <a:solidFill>
              <a:srgbClr val="000000"/>
            </a:solidFill>
            <a:prstDash val="solid"/>
            <a:headEnd type="none" len="sm" w="sm"/>
            <a:tailEnd type="none" len="sm" w="sm"/>
          </a:ln>
        </p:spPr>
      </p:sp>
      <p:sp>
        <p:nvSpPr>
          <p:cNvPr name="AutoShape 16" id="16"/>
          <p:cNvSpPr/>
          <p:nvPr/>
        </p:nvSpPr>
        <p:spPr>
          <a:xfrm>
            <a:off x="5037998" y="8810133"/>
            <a:ext cx="1056429" cy="0"/>
          </a:xfrm>
          <a:prstGeom prst="line">
            <a:avLst/>
          </a:prstGeom>
          <a:ln cap="flat" w="38100">
            <a:solidFill>
              <a:srgbClr val="000000"/>
            </a:solidFill>
            <a:prstDash val="solid"/>
            <a:headEnd type="none" len="sm" w="sm"/>
            <a:tailEnd type="none" len="sm" w="sm"/>
          </a:ln>
        </p:spPr>
      </p:sp>
      <p:sp>
        <p:nvSpPr>
          <p:cNvPr name="AutoShape 17" id="17"/>
          <p:cNvSpPr/>
          <p:nvPr/>
        </p:nvSpPr>
        <p:spPr>
          <a:xfrm flipV="true">
            <a:off x="6073453" y="4279653"/>
            <a:ext cx="0" cy="4530480"/>
          </a:xfrm>
          <a:prstGeom prst="line">
            <a:avLst/>
          </a:prstGeom>
          <a:ln cap="flat" w="38100">
            <a:solidFill>
              <a:srgbClr val="000000"/>
            </a:solidFill>
            <a:prstDash val="solid"/>
            <a:headEnd type="none" len="sm" w="sm"/>
            <a:tailEnd type="none" len="sm" w="sm"/>
          </a:ln>
        </p:spPr>
      </p:sp>
      <p:sp>
        <p:nvSpPr>
          <p:cNvPr name="AutoShape 18" id="18"/>
          <p:cNvSpPr/>
          <p:nvPr/>
        </p:nvSpPr>
        <p:spPr>
          <a:xfrm>
            <a:off x="6435985" y="3598837"/>
            <a:ext cx="619427" cy="0"/>
          </a:xfrm>
          <a:prstGeom prst="line">
            <a:avLst/>
          </a:prstGeom>
          <a:ln cap="flat" w="38100">
            <a:solidFill>
              <a:srgbClr val="000000"/>
            </a:solidFill>
            <a:prstDash val="solid"/>
            <a:headEnd type="none" len="sm" w="sm"/>
            <a:tailEnd type="arrow" len="sm" w="med"/>
          </a:ln>
        </p:spPr>
      </p:sp>
      <p:sp>
        <p:nvSpPr>
          <p:cNvPr name="AutoShape 19" id="19"/>
          <p:cNvSpPr/>
          <p:nvPr/>
        </p:nvSpPr>
        <p:spPr>
          <a:xfrm>
            <a:off x="6073453" y="6535670"/>
            <a:ext cx="362531" cy="0"/>
          </a:xfrm>
          <a:prstGeom prst="line">
            <a:avLst/>
          </a:prstGeom>
          <a:ln cap="flat" w="38100">
            <a:solidFill>
              <a:srgbClr val="000000"/>
            </a:solidFill>
            <a:prstDash val="solid"/>
            <a:headEnd type="none" len="sm" w="sm"/>
            <a:tailEnd type="none" len="sm" w="sm"/>
          </a:ln>
        </p:spPr>
      </p:sp>
      <p:sp>
        <p:nvSpPr>
          <p:cNvPr name="AutoShape 20" id="20"/>
          <p:cNvSpPr/>
          <p:nvPr/>
        </p:nvSpPr>
        <p:spPr>
          <a:xfrm flipV="true">
            <a:off x="6435985" y="3577161"/>
            <a:ext cx="0" cy="2977559"/>
          </a:xfrm>
          <a:prstGeom prst="line">
            <a:avLst/>
          </a:prstGeom>
          <a:ln cap="flat" w="38100">
            <a:solidFill>
              <a:srgbClr val="000000"/>
            </a:solidFill>
            <a:prstDash val="solid"/>
            <a:headEnd type="none" len="sm" w="sm"/>
            <a:tailEnd type="none" len="sm" w="sm"/>
          </a:ln>
        </p:spPr>
      </p:sp>
      <p:sp>
        <p:nvSpPr>
          <p:cNvPr name="AutoShape 21" id="21"/>
          <p:cNvSpPr/>
          <p:nvPr/>
        </p:nvSpPr>
        <p:spPr>
          <a:xfrm>
            <a:off x="11962417" y="3594110"/>
            <a:ext cx="1293722" cy="0"/>
          </a:xfrm>
          <a:prstGeom prst="line">
            <a:avLst/>
          </a:prstGeom>
          <a:ln cap="flat" w="38100">
            <a:solidFill>
              <a:srgbClr val="000000"/>
            </a:solidFill>
            <a:prstDash val="solid"/>
            <a:headEnd type="none" len="sm" w="sm"/>
            <a:tailEnd type="arrow" len="sm" w="med"/>
          </a:ln>
        </p:spPr>
      </p:sp>
      <p:sp>
        <p:nvSpPr>
          <p:cNvPr name="AutoShape 22" id="22"/>
          <p:cNvSpPr/>
          <p:nvPr/>
        </p:nvSpPr>
        <p:spPr>
          <a:xfrm>
            <a:off x="11043622" y="5583428"/>
            <a:ext cx="308973" cy="0"/>
          </a:xfrm>
          <a:prstGeom prst="line">
            <a:avLst/>
          </a:prstGeom>
          <a:ln cap="flat" w="38100">
            <a:solidFill>
              <a:srgbClr val="000000"/>
            </a:solidFill>
            <a:prstDash val="solid"/>
            <a:headEnd type="none" len="sm" w="sm"/>
            <a:tailEnd type="none" len="sm" w="sm"/>
          </a:ln>
        </p:spPr>
      </p:sp>
      <p:sp>
        <p:nvSpPr>
          <p:cNvPr name="AutoShape 23" id="23"/>
          <p:cNvSpPr/>
          <p:nvPr/>
        </p:nvSpPr>
        <p:spPr>
          <a:xfrm flipV="true">
            <a:off x="11962417" y="3577163"/>
            <a:ext cx="0" cy="5051123"/>
          </a:xfrm>
          <a:prstGeom prst="line">
            <a:avLst/>
          </a:prstGeom>
          <a:ln cap="flat" w="38100">
            <a:solidFill>
              <a:srgbClr val="000000"/>
            </a:solidFill>
            <a:prstDash val="solid"/>
            <a:headEnd type="none" len="sm" w="sm"/>
            <a:tailEnd type="none" len="sm" w="sm"/>
          </a:ln>
        </p:spPr>
      </p:sp>
      <p:grpSp>
        <p:nvGrpSpPr>
          <p:cNvPr name="Group 24" id="24"/>
          <p:cNvGrpSpPr/>
          <p:nvPr/>
        </p:nvGrpSpPr>
        <p:grpSpPr>
          <a:xfrm rot="0">
            <a:off x="1080900" y="3873566"/>
            <a:ext cx="3936125" cy="1004773"/>
            <a:chOff x="0" y="0"/>
            <a:chExt cx="1036675" cy="264632"/>
          </a:xfrm>
        </p:grpSpPr>
        <p:sp>
          <p:nvSpPr>
            <p:cNvPr name="Freeform 25" id="25"/>
            <p:cNvSpPr/>
            <p:nvPr/>
          </p:nvSpPr>
          <p:spPr>
            <a:xfrm flipH="false" flipV="false" rot="0">
              <a:off x="0" y="0"/>
              <a:ext cx="1036675" cy="264632"/>
            </a:xfrm>
            <a:custGeom>
              <a:avLst/>
              <a:gdLst/>
              <a:ahLst/>
              <a:cxnLst/>
              <a:rect r="r" b="b" t="t" l="l"/>
              <a:pathLst>
                <a:path h="264632" w="1036675">
                  <a:moveTo>
                    <a:pt x="100311" y="0"/>
                  </a:moveTo>
                  <a:lnTo>
                    <a:pt x="936363" y="0"/>
                  </a:lnTo>
                  <a:cubicBezTo>
                    <a:pt x="962968" y="0"/>
                    <a:pt x="988482" y="10568"/>
                    <a:pt x="1007294" y="29381"/>
                  </a:cubicBezTo>
                  <a:cubicBezTo>
                    <a:pt x="1026106" y="48193"/>
                    <a:pt x="1036675" y="73707"/>
                    <a:pt x="1036675" y="100311"/>
                  </a:cubicBezTo>
                  <a:lnTo>
                    <a:pt x="1036675" y="164320"/>
                  </a:lnTo>
                  <a:cubicBezTo>
                    <a:pt x="1036675" y="190925"/>
                    <a:pt x="1026106" y="216439"/>
                    <a:pt x="1007294" y="235251"/>
                  </a:cubicBezTo>
                  <a:cubicBezTo>
                    <a:pt x="988482" y="254063"/>
                    <a:pt x="962968" y="264632"/>
                    <a:pt x="936363" y="264632"/>
                  </a:cubicBezTo>
                  <a:lnTo>
                    <a:pt x="100311" y="264632"/>
                  </a:lnTo>
                  <a:cubicBezTo>
                    <a:pt x="73707" y="264632"/>
                    <a:pt x="48193" y="254063"/>
                    <a:pt x="29381" y="235251"/>
                  </a:cubicBezTo>
                  <a:cubicBezTo>
                    <a:pt x="10568" y="216439"/>
                    <a:pt x="0" y="190925"/>
                    <a:pt x="0" y="164320"/>
                  </a:cubicBezTo>
                  <a:lnTo>
                    <a:pt x="0" y="100311"/>
                  </a:lnTo>
                  <a:cubicBezTo>
                    <a:pt x="0" y="73707"/>
                    <a:pt x="10568" y="48193"/>
                    <a:pt x="29381" y="29381"/>
                  </a:cubicBezTo>
                  <a:cubicBezTo>
                    <a:pt x="48193" y="10568"/>
                    <a:pt x="73707" y="0"/>
                    <a:pt x="100311" y="0"/>
                  </a:cubicBezTo>
                  <a:close/>
                </a:path>
              </a:pathLst>
            </a:custGeom>
            <a:solidFill>
              <a:srgbClr val="5789A2"/>
            </a:solidFill>
            <a:ln w="85725" cap="rnd">
              <a:solidFill>
                <a:srgbClr val="B1D1E1"/>
              </a:solidFill>
              <a:prstDash val="solid"/>
              <a:round/>
            </a:ln>
          </p:spPr>
        </p:sp>
        <p:sp>
          <p:nvSpPr>
            <p:cNvPr name="TextBox 26" id="26"/>
            <p:cNvSpPr txBox="true"/>
            <p:nvPr/>
          </p:nvSpPr>
          <p:spPr>
            <a:xfrm>
              <a:off x="0" y="-66675"/>
              <a:ext cx="1036675" cy="331307"/>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Random Forest</a:t>
              </a:r>
            </a:p>
            <a:p>
              <a:pPr algn="ctr">
                <a:lnSpc>
                  <a:spcPts val="1680"/>
                </a:lnSpc>
              </a:pPr>
              <a:r>
                <a:rPr lang="en-US" sz="1200" spc="30">
                  <a:solidFill>
                    <a:srgbClr val="FFFFFF"/>
                  </a:solidFill>
                  <a:latin typeface="Poppins"/>
                  <a:ea typeface="Poppins"/>
                  <a:cs typeface="Poppins"/>
                  <a:sym typeface="Poppins"/>
                </a:rPr>
                <a:t>n_est=100</a:t>
              </a:r>
              <a:r>
                <a:rPr lang="en-US" sz="1200" spc="30">
                  <a:solidFill>
                    <a:srgbClr val="FFFFFF"/>
                  </a:solidFill>
                  <a:latin typeface="Poppins"/>
                  <a:ea typeface="Poppins"/>
                  <a:cs typeface="Poppins"/>
                  <a:sym typeface="Poppins"/>
                </a:rPr>
                <a:t>, class_weight=balanced</a:t>
              </a:r>
            </a:p>
          </p:txBody>
        </p:sp>
      </p:grpSp>
      <p:grpSp>
        <p:nvGrpSpPr>
          <p:cNvPr name="Group 27" id="27"/>
          <p:cNvGrpSpPr/>
          <p:nvPr/>
        </p:nvGrpSpPr>
        <p:grpSpPr>
          <a:xfrm rot="0">
            <a:off x="1080900" y="5001273"/>
            <a:ext cx="3936125" cy="851481"/>
            <a:chOff x="0" y="0"/>
            <a:chExt cx="1036675" cy="224258"/>
          </a:xfrm>
        </p:grpSpPr>
        <p:sp>
          <p:nvSpPr>
            <p:cNvPr name="Freeform 28" id="28"/>
            <p:cNvSpPr/>
            <p:nvPr/>
          </p:nvSpPr>
          <p:spPr>
            <a:xfrm flipH="false" flipV="false" rot="0">
              <a:off x="0" y="0"/>
              <a:ext cx="1036675" cy="224259"/>
            </a:xfrm>
            <a:custGeom>
              <a:avLst/>
              <a:gdLst/>
              <a:ahLst/>
              <a:cxnLst/>
              <a:rect r="r" b="b" t="t" l="l"/>
              <a:pathLst>
                <a:path h="224259" w="1036675">
                  <a:moveTo>
                    <a:pt x="100311" y="0"/>
                  </a:moveTo>
                  <a:lnTo>
                    <a:pt x="936363" y="0"/>
                  </a:lnTo>
                  <a:cubicBezTo>
                    <a:pt x="962968" y="0"/>
                    <a:pt x="988482" y="10568"/>
                    <a:pt x="1007294" y="29381"/>
                  </a:cubicBezTo>
                  <a:cubicBezTo>
                    <a:pt x="1026106" y="48193"/>
                    <a:pt x="1036675" y="73707"/>
                    <a:pt x="1036675" y="100311"/>
                  </a:cubicBezTo>
                  <a:lnTo>
                    <a:pt x="1036675" y="123947"/>
                  </a:lnTo>
                  <a:cubicBezTo>
                    <a:pt x="1036675" y="150551"/>
                    <a:pt x="1026106" y="176066"/>
                    <a:pt x="1007294" y="194878"/>
                  </a:cubicBezTo>
                  <a:cubicBezTo>
                    <a:pt x="988482" y="213690"/>
                    <a:pt x="962968" y="224259"/>
                    <a:pt x="936363" y="224259"/>
                  </a:cubicBezTo>
                  <a:lnTo>
                    <a:pt x="100311" y="224259"/>
                  </a:lnTo>
                  <a:cubicBezTo>
                    <a:pt x="73707" y="224259"/>
                    <a:pt x="48193" y="213690"/>
                    <a:pt x="29381" y="194878"/>
                  </a:cubicBezTo>
                  <a:cubicBezTo>
                    <a:pt x="10568" y="176066"/>
                    <a:pt x="0" y="150551"/>
                    <a:pt x="0" y="123947"/>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29" id="29"/>
            <p:cNvSpPr txBox="true"/>
            <p:nvPr/>
          </p:nvSpPr>
          <p:spPr>
            <a:xfrm>
              <a:off x="0" y="-66675"/>
              <a:ext cx="1036675" cy="290933"/>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SVM</a:t>
              </a:r>
            </a:p>
            <a:p>
              <a:pPr algn="ctr">
                <a:lnSpc>
                  <a:spcPts val="1680"/>
                </a:lnSpc>
              </a:pPr>
              <a:r>
                <a:rPr lang="en-US" sz="1200" spc="30">
                  <a:solidFill>
                    <a:srgbClr val="FFFFFF"/>
                  </a:solidFill>
                  <a:latin typeface="Poppins"/>
                  <a:ea typeface="Poppins"/>
                  <a:cs typeface="Poppins"/>
                  <a:sym typeface="Poppins"/>
                </a:rPr>
                <a:t>kernel=rbf, class_weight=balanced</a:t>
              </a:r>
            </a:p>
          </p:txBody>
        </p:sp>
      </p:grpSp>
      <p:grpSp>
        <p:nvGrpSpPr>
          <p:cNvPr name="Group 30" id="30"/>
          <p:cNvGrpSpPr/>
          <p:nvPr/>
        </p:nvGrpSpPr>
        <p:grpSpPr>
          <a:xfrm rot="0">
            <a:off x="1080900" y="6128979"/>
            <a:ext cx="3936125" cy="851481"/>
            <a:chOff x="0" y="0"/>
            <a:chExt cx="1036675" cy="224258"/>
          </a:xfrm>
        </p:grpSpPr>
        <p:sp>
          <p:nvSpPr>
            <p:cNvPr name="Freeform 31" id="31"/>
            <p:cNvSpPr/>
            <p:nvPr/>
          </p:nvSpPr>
          <p:spPr>
            <a:xfrm flipH="false" flipV="false" rot="0">
              <a:off x="0" y="0"/>
              <a:ext cx="1036675" cy="224259"/>
            </a:xfrm>
            <a:custGeom>
              <a:avLst/>
              <a:gdLst/>
              <a:ahLst/>
              <a:cxnLst/>
              <a:rect r="r" b="b" t="t" l="l"/>
              <a:pathLst>
                <a:path h="224259" w="1036675">
                  <a:moveTo>
                    <a:pt x="100311" y="0"/>
                  </a:moveTo>
                  <a:lnTo>
                    <a:pt x="936363" y="0"/>
                  </a:lnTo>
                  <a:cubicBezTo>
                    <a:pt x="962968" y="0"/>
                    <a:pt x="988482" y="10568"/>
                    <a:pt x="1007294" y="29381"/>
                  </a:cubicBezTo>
                  <a:cubicBezTo>
                    <a:pt x="1026106" y="48193"/>
                    <a:pt x="1036675" y="73707"/>
                    <a:pt x="1036675" y="100311"/>
                  </a:cubicBezTo>
                  <a:lnTo>
                    <a:pt x="1036675" y="123947"/>
                  </a:lnTo>
                  <a:cubicBezTo>
                    <a:pt x="1036675" y="150551"/>
                    <a:pt x="1026106" y="176066"/>
                    <a:pt x="1007294" y="194878"/>
                  </a:cubicBezTo>
                  <a:cubicBezTo>
                    <a:pt x="988482" y="213690"/>
                    <a:pt x="962968" y="224259"/>
                    <a:pt x="936363" y="224259"/>
                  </a:cubicBezTo>
                  <a:lnTo>
                    <a:pt x="100311" y="224259"/>
                  </a:lnTo>
                  <a:cubicBezTo>
                    <a:pt x="73707" y="224259"/>
                    <a:pt x="48193" y="213690"/>
                    <a:pt x="29381" y="194878"/>
                  </a:cubicBezTo>
                  <a:cubicBezTo>
                    <a:pt x="10568" y="176066"/>
                    <a:pt x="0" y="150551"/>
                    <a:pt x="0" y="123947"/>
                  </a:cubicBezTo>
                  <a:lnTo>
                    <a:pt x="0" y="100311"/>
                  </a:lnTo>
                  <a:cubicBezTo>
                    <a:pt x="0" y="73707"/>
                    <a:pt x="10568" y="48193"/>
                    <a:pt x="29381" y="29381"/>
                  </a:cubicBezTo>
                  <a:cubicBezTo>
                    <a:pt x="48193" y="10568"/>
                    <a:pt x="73707" y="0"/>
                    <a:pt x="100311" y="0"/>
                  </a:cubicBezTo>
                  <a:close/>
                </a:path>
              </a:pathLst>
            </a:custGeom>
            <a:solidFill>
              <a:srgbClr val="5789A2"/>
            </a:solidFill>
            <a:ln w="85725" cap="rnd">
              <a:solidFill>
                <a:srgbClr val="B1D1E1"/>
              </a:solidFill>
              <a:prstDash val="solid"/>
              <a:round/>
            </a:ln>
          </p:spPr>
        </p:sp>
        <p:sp>
          <p:nvSpPr>
            <p:cNvPr name="TextBox 32" id="32"/>
            <p:cNvSpPr txBox="true"/>
            <p:nvPr/>
          </p:nvSpPr>
          <p:spPr>
            <a:xfrm>
              <a:off x="0" y="-66675"/>
              <a:ext cx="1036675" cy="290933"/>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Gradient Boosting</a:t>
              </a:r>
            </a:p>
          </p:txBody>
        </p:sp>
      </p:grpSp>
      <p:grpSp>
        <p:nvGrpSpPr>
          <p:cNvPr name="Group 33" id="33"/>
          <p:cNvGrpSpPr/>
          <p:nvPr/>
        </p:nvGrpSpPr>
        <p:grpSpPr>
          <a:xfrm rot="0">
            <a:off x="1028700" y="7256686"/>
            <a:ext cx="3936125" cy="851481"/>
            <a:chOff x="0" y="0"/>
            <a:chExt cx="1036675" cy="224258"/>
          </a:xfrm>
        </p:grpSpPr>
        <p:sp>
          <p:nvSpPr>
            <p:cNvPr name="Freeform 34" id="34"/>
            <p:cNvSpPr/>
            <p:nvPr/>
          </p:nvSpPr>
          <p:spPr>
            <a:xfrm flipH="false" flipV="false" rot="0">
              <a:off x="0" y="0"/>
              <a:ext cx="1036675" cy="224259"/>
            </a:xfrm>
            <a:custGeom>
              <a:avLst/>
              <a:gdLst/>
              <a:ahLst/>
              <a:cxnLst/>
              <a:rect r="r" b="b" t="t" l="l"/>
              <a:pathLst>
                <a:path h="224259" w="1036675">
                  <a:moveTo>
                    <a:pt x="100311" y="0"/>
                  </a:moveTo>
                  <a:lnTo>
                    <a:pt x="936363" y="0"/>
                  </a:lnTo>
                  <a:cubicBezTo>
                    <a:pt x="962968" y="0"/>
                    <a:pt x="988482" y="10568"/>
                    <a:pt x="1007294" y="29381"/>
                  </a:cubicBezTo>
                  <a:cubicBezTo>
                    <a:pt x="1026106" y="48193"/>
                    <a:pt x="1036675" y="73707"/>
                    <a:pt x="1036675" y="100311"/>
                  </a:cubicBezTo>
                  <a:lnTo>
                    <a:pt x="1036675" y="123947"/>
                  </a:lnTo>
                  <a:cubicBezTo>
                    <a:pt x="1036675" y="150551"/>
                    <a:pt x="1026106" y="176066"/>
                    <a:pt x="1007294" y="194878"/>
                  </a:cubicBezTo>
                  <a:cubicBezTo>
                    <a:pt x="988482" y="213690"/>
                    <a:pt x="962968" y="224259"/>
                    <a:pt x="936363" y="224259"/>
                  </a:cubicBezTo>
                  <a:lnTo>
                    <a:pt x="100311" y="224259"/>
                  </a:lnTo>
                  <a:cubicBezTo>
                    <a:pt x="73707" y="224259"/>
                    <a:pt x="48193" y="213690"/>
                    <a:pt x="29381" y="194878"/>
                  </a:cubicBezTo>
                  <a:cubicBezTo>
                    <a:pt x="10568" y="176066"/>
                    <a:pt x="0" y="150551"/>
                    <a:pt x="0" y="123947"/>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35" id="35"/>
            <p:cNvSpPr txBox="true"/>
            <p:nvPr/>
          </p:nvSpPr>
          <p:spPr>
            <a:xfrm>
              <a:off x="0" y="-66675"/>
              <a:ext cx="1036675" cy="290933"/>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KNN</a:t>
              </a:r>
            </a:p>
            <a:p>
              <a:pPr algn="ctr">
                <a:lnSpc>
                  <a:spcPts val="1680"/>
                </a:lnSpc>
              </a:pPr>
              <a:r>
                <a:rPr lang="en-US" sz="1200" spc="30">
                  <a:solidFill>
                    <a:srgbClr val="FFFFFF"/>
                  </a:solidFill>
                  <a:latin typeface="Poppins"/>
                  <a:ea typeface="Poppins"/>
                  <a:cs typeface="Poppins"/>
                  <a:sym typeface="Poppins"/>
                </a:rPr>
                <a:t>n_neighbors=5</a:t>
              </a:r>
            </a:p>
          </p:txBody>
        </p:sp>
      </p:grpSp>
      <p:grpSp>
        <p:nvGrpSpPr>
          <p:cNvPr name="Group 36" id="36"/>
          <p:cNvGrpSpPr/>
          <p:nvPr/>
        </p:nvGrpSpPr>
        <p:grpSpPr>
          <a:xfrm rot="0">
            <a:off x="1080900" y="8384392"/>
            <a:ext cx="3936125" cy="1004773"/>
            <a:chOff x="0" y="0"/>
            <a:chExt cx="1036675" cy="264632"/>
          </a:xfrm>
        </p:grpSpPr>
        <p:sp>
          <p:nvSpPr>
            <p:cNvPr name="Freeform 37" id="37"/>
            <p:cNvSpPr/>
            <p:nvPr/>
          </p:nvSpPr>
          <p:spPr>
            <a:xfrm flipH="false" flipV="false" rot="0">
              <a:off x="0" y="0"/>
              <a:ext cx="1036675" cy="264632"/>
            </a:xfrm>
            <a:custGeom>
              <a:avLst/>
              <a:gdLst/>
              <a:ahLst/>
              <a:cxnLst/>
              <a:rect r="r" b="b" t="t" l="l"/>
              <a:pathLst>
                <a:path h="264632" w="1036675">
                  <a:moveTo>
                    <a:pt x="100311" y="0"/>
                  </a:moveTo>
                  <a:lnTo>
                    <a:pt x="936363" y="0"/>
                  </a:lnTo>
                  <a:cubicBezTo>
                    <a:pt x="962968" y="0"/>
                    <a:pt x="988482" y="10568"/>
                    <a:pt x="1007294" y="29381"/>
                  </a:cubicBezTo>
                  <a:cubicBezTo>
                    <a:pt x="1026106" y="48193"/>
                    <a:pt x="1036675" y="73707"/>
                    <a:pt x="1036675" y="100311"/>
                  </a:cubicBezTo>
                  <a:lnTo>
                    <a:pt x="1036675" y="164320"/>
                  </a:lnTo>
                  <a:cubicBezTo>
                    <a:pt x="1036675" y="190925"/>
                    <a:pt x="1026106" y="216439"/>
                    <a:pt x="1007294" y="235251"/>
                  </a:cubicBezTo>
                  <a:cubicBezTo>
                    <a:pt x="988482" y="254063"/>
                    <a:pt x="962968" y="264632"/>
                    <a:pt x="936363" y="264632"/>
                  </a:cubicBezTo>
                  <a:lnTo>
                    <a:pt x="100311" y="264632"/>
                  </a:lnTo>
                  <a:cubicBezTo>
                    <a:pt x="73707" y="264632"/>
                    <a:pt x="48193" y="254063"/>
                    <a:pt x="29381" y="235251"/>
                  </a:cubicBezTo>
                  <a:cubicBezTo>
                    <a:pt x="10568" y="216439"/>
                    <a:pt x="0" y="190925"/>
                    <a:pt x="0" y="164320"/>
                  </a:cubicBezTo>
                  <a:lnTo>
                    <a:pt x="0" y="100311"/>
                  </a:lnTo>
                  <a:cubicBezTo>
                    <a:pt x="0" y="73707"/>
                    <a:pt x="10568" y="48193"/>
                    <a:pt x="29381" y="29381"/>
                  </a:cubicBezTo>
                  <a:cubicBezTo>
                    <a:pt x="48193" y="10568"/>
                    <a:pt x="73707" y="0"/>
                    <a:pt x="100311" y="0"/>
                  </a:cubicBezTo>
                  <a:close/>
                </a:path>
              </a:pathLst>
            </a:custGeom>
            <a:solidFill>
              <a:srgbClr val="5789A2"/>
            </a:solidFill>
            <a:ln w="85725" cap="rnd">
              <a:solidFill>
                <a:srgbClr val="B1D1E1"/>
              </a:solidFill>
              <a:prstDash val="solid"/>
              <a:round/>
            </a:ln>
          </p:spPr>
        </p:sp>
        <p:sp>
          <p:nvSpPr>
            <p:cNvPr name="TextBox 38" id="38"/>
            <p:cNvSpPr txBox="true"/>
            <p:nvPr/>
          </p:nvSpPr>
          <p:spPr>
            <a:xfrm>
              <a:off x="0" y="-66675"/>
              <a:ext cx="1036675" cy="331307"/>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XGBoost</a:t>
              </a:r>
            </a:p>
            <a:p>
              <a:pPr algn="ctr">
                <a:lnSpc>
                  <a:spcPts val="1680"/>
                </a:lnSpc>
              </a:pPr>
              <a:r>
                <a:rPr lang="en-US" sz="1200" spc="30">
                  <a:solidFill>
                    <a:srgbClr val="FFFFFF"/>
                  </a:solidFill>
                  <a:latin typeface="Poppins"/>
                  <a:ea typeface="Poppins"/>
                  <a:cs typeface="Poppins"/>
                  <a:sym typeface="Poppins"/>
                </a:rPr>
                <a:t>eval=mlogloss</a:t>
              </a:r>
            </a:p>
          </p:txBody>
        </p:sp>
      </p:grpSp>
      <p:grpSp>
        <p:nvGrpSpPr>
          <p:cNvPr name="Group 39" id="39"/>
          <p:cNvGrpSpPr/>
          <p:nvPr/>
        </p:nvGrpSpPr>
        <p:grpSpPr>
          <a:xfrm rot="0">
            <a:off x="7175938" y="3195881"/>
            <a:ext cx="3936125" cy="1003234"/>
            <a:chOff x="0" y="0"/>
            <a:chExt cx="1036675" cy="264226"/>
          </a:xfrm>
        </p:grpSpPr>
        <p:sp>
          <p:nvSpPr>
            <p:cNvPr name="Freeform 40" id="40"/>
            <p:cNvSpPr/>
            <p:nvPr/>
          </p:nvSpPr>
          <p:spPr>
            <a:xfrm flipH="false" flipV="false" rot="0">
              <a:off x="0" y="0"/>
              <a:ext cx="1036675" cy="264226"/>
            </a:xfrm>
            <a:custGeom>
              <a:avLst/>
              <a:gdLst/>
              <a:ahLst/>
              <a:cxnLst/>
              <a:rect r="r" b="b" t="t" l="l"/>
              <a:pathLst>
                <a:path h="264226" w="1036675">
                  <a:moveTo>
                    <a:pt x="100311" y="0"/>
                  </a:moveTo>
                  <a:lnTo>
                    <a:pt x="936363" y="0"/>
                  </a:lnTo>
                  <a:cubicBezTo>
                    <a:pt x="962968" y="0"/>
                    <a:pt x="988482" y="10568"/>
                    <a:pt x="1007294" y="29381"/>
                  </a:cubicBezTo>
                  <a:cubicBezTo>
                    <a:pt x="1026106" y="48193"/>
                    <a:pt x="1036675" y="73707"/>
                    <a:pt x="1036675" y="100311"/>
                  </a:cubicBezTo>
                  <a:lnTo>
                    <a:pt x="1036675" y="163915"/>
                  </a:lnTo>
                  <a:cubicBezTo>
                    <a:pt x="1036675" y="190519"/>
                    <a:pt x="1026106" y="216034"/>
                    <a:pt x="1007294" y="234846"/>
                  </a:cubicBezTo>
                  <a:cubicBezTo>
                    <a:pt x="988482" y="253658"/>
                    <a:pt x="962968" y="264226"/>
                    <a:pt x="936363" y="264226"/>
                  </a:cubicBezTo>
                  <a:lnTo>
                    <a:pt x="100311" y="264226"/>
                  </a:lnTo>
                  <a:cubicBezTo>
                    <a:pt x="73707" y="264226"/>
                    <a:pt x="48193" y="253658"/>
                    <a:pt x="29381" y="234846"/>
                  </a:cubicBezTo>
                  <a:cubicBezTo>
                    <a:pt x="10568" y="216034"/>
                    <a:pt x="0" y="190519"/>
                    <a:pt x="0" y="163915"/>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41" id="41"/>
            <p:cNvSpPr txBox="true"/>
            <p:nvPr/>
          </p:nvSpPr>
          <p:spPr>
            <a:xfrm>
              <a:off x="0" y="-66675"/>
              <a:ext cx="1036675"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SMOTE</a:t>
              </a:r>
            </a:p>
            <a:p>
              <a:pPr algn="ctr">
                <a:lnSpc>
                  <a:spcPts val="1960"/>
                </a:lnSpc>
              </a:pPr>
              <a:r>
                <a:rPr lang="en-US" sz="1400" spc="35">
                  <a:solidFill>
                    <a:srgbClr val="FFFFFF"/>
                  </a:solidFill>
                  <a:latin typeface="Poppins"/>
                  <a:ea typeface="Poppins"/>
                  <a:cs typeface="Poppins"/>
                  <a:sym typeface="Poppins"/>
                </a:rPr>
                <a:t>Oversampling of CN and AD Class</a:t>
              </a:r>
            </a:p>
          </p:txBody>
        </p:sp>
      </p:grpSp>
      <p:grpSp>
        <p:nvGrpSpPr>
          <p:cNvPr name="Group 42" id="42"/>
          <p:cNvGrpSpPr/>
          <p:nvPr/>
        </p:nvGrpSpPr>
        <p:grpSpPr>
          <a:xfrm rot="0">
            <a:off x="7107497" y="5001273"/>
            <a:ext cx="3936125" cy="1003234"/>
            <a:chOff x="0" y="0"/>
            <a:chExt cx="1036675" cy="264226"/>
          </a:xfrm>
        </p:grpSpPr>
        <p:sp>
          <p:nvSpPr>
            <p:cNvPr name="Freeform 43" id="43"/>
            <p:cNvSpPr/>
            <p:nvPr/>
          </p:nvSpPr>
          <p:spPr>
            <a:xfrm flipH="false" flipV="false" rot="0">
              <a:off x="0" y="0"/>
              <a:ext cx="1036675" cy="264226"/>
            </a:xfrm>
            <a:custGeom>
              <a:avLst/>
              <a:gdLst/>
              <a:ahLst/>
              <a:cxnLst/>
              <a:rect r="r" b="b" t="t" l="l"/>
              <a:pathLst>
                <a:path h="264226" w="1036675">
                  <a:moveTo>
                    <a:pt x="100311" y="0"/>
                  </a:moveTo>
                  <a:lnTo>
                    <a:pt x="936363" y="0"/>
                  </a:lnTo>
                  <a:cubicBezTo>
                    <a:pt x="962968" y="0"/>
                    <a:pt x="988482" y="10568"/>
                    <a:pt x="1007294" y="29381"/>
                  </a:cubicBezTo>
                  <a:cubicBezTo>
                    <a:pt x="1026106" y="48193"/>
                    <a:pt x="1036675" y="73707"/>
                    <a:pt x="1036675" y="100311"/>
                  </a:cubicBezTo>
                  <a:lnTo>
                    <a:pt x="1036675" y="163915"/>
                  </a:lnTo>
                  <a:cubicBezTo>
                    <a:pt x="1036675" y="190519"/>
                    <a:pt x="1026106" y="216034"/>
                    <a:pt x="1007294" y="234846"/>
                  </a:cubicBezTo>
                  <a:cubicBezTo>
                    <a:pt x="988482" y="253658"/>
                    <a:pt x="962968" y="264226"/>
                    <a:pt x="936363" y="264226"/>
                  </a:cubicBezTo>
                  <a:lnTo>
                    <a:pt x="100311" y="264226"/>
                  </a:lnTo>
                  <a:cubicBezTo>
                    <a:pt x="73707" y="264226"/>
                    <a:pt x="48193" y="253658"/>
                    <a:pt x="29381" y="234846"/>
                  </a:cubicBezTo>
                  <a:cubicBezTo>
                    <a:pt x="10568" y="216034"/>
                    <a:pt x="0" y="190519"/>
                    <a:pt x="0" y="163915"/>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44" id="44"/>
            <p:cNvSpPr txBox="true"/>
            <p:nvPr/>
          </p:nvSpPr>
          <p:spPr>
            <a:xfrm>
              <a:off x="0" y="-66675"/>
              <a:ext cx="1036675"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Random Search</a:t>
              </a:r>
            </a:p>
          </p:txBody>
        </p:sp>
      </p:grpSp>
      <p:grpSp>
        <p:nvGrpSpPr>
          <p:cNvPr name="Group 45" id="45"/>
          <p:cNvGrpSpPr/>
          <p:nvPr/>
        </p:nvGrpSpPr>
        <p:grpSpPr>
          <a:xfrm rot="0">
            <a:off x="13379964" y="8126669"/>
            <a:ext cx="3936125" cy="1003234"/>
            <a:chOff x="0" y="0"/>
            <a:chExt cx="1036675" cy="264226"/>
          </a:xfrm>
        </p:grpSpPr>
        <p:sp>
          <p:nvSpPr>
            <p:cNvPr name="Freeform 46" id="46"/>
            <p:cNvSpPr/>
            <p:nvPr/>
          </p:nvSpPr>
          <p:spPr>
            <a:xfrm flipH="false" flipV="false" rot="0">
              <a:off x="0" y="0"/>
              <a:ext cx="1036675" cy="264226"/>
            </a:xfrm>
            <a:custGeom>
              <a:avLst/>
              <a:gdLst/>
              <a:ahLst/>
              <a:cxnLst/>
              <a:rect r="r" b="b" t="t" l="l"/>
              <a:pathLst>
                <a:path h="264226" w="1036675">
                  <a:moveTo>
                    <a:pt x="100311" y="0"/>
                  </a:moveTo>
                  <a:lnTo>
                    <a:pt x="936363" y="0"/>
                  </a:lnTo>
                  <a:cubicBezTo>
                    <a:pt x="962968" y="0"/>
                    <a:pt x="988482" y="10568"/>
                    <a:pt x="1007294" y="29381"/>
                  </a:cubicBezTo>
                  <a:cubicBezTo>
                    <a:pt x="1026106" y="48193"/>
                    <a:pt x="1036675" y="73707"/>
                    <a:pt x="1036675" y="100311"/>
                  </a:cubicBezTo>
                  <a:lnTo>
                    <a:pt x="1036675" y="163915"/>
                  </a:lnTo>
                  <a:cubicBezTo>
                    <a:pt x="1036675" y="190519"/>
                    <a:pt x="1026106" y="216034"/>
                    <a:pt x="1007294" y="234846"/>
                  </a:cubicBezTo>
                  <a:cubicBezTo>
                    <a:pt x="988482" y="253658"/>
                    <a:pt x="962968" y="264226"/>
                    <a:pt x="936363" y="264226"/>
                  </a:cubicBezTo>
                  <a:lnTo>
                    <a:pt x="100311" y="264226"/>
                  </a:lnTo>
                  <a:cubicBezTo>
                    <a:pt x="73707" y="264226"/>
                    <a:pt x="48193" y="253658"/>
                    <a:pt x="29381" y="234846"/>
                  </a:cubicBezTo>
                  <a:cubicBezTo>
                    <a:pt x="10568" y="216034"/>
                    <a:pt x="0" y="190519"/>
                    <a:pt x="0" y="163915"/>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47" id="47"/>
            <p:cNvSpPr txBox="true"/>
            <p:nvPr/>
          </p:nvSpPr>
          <p:spPr>
            <a:xfrm>
              <a:off x="0" y="-66675"/>
              <a:ext cx="1036675"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SHAP</a:t>
              </a:r>
            </a:p>
            <a:p>
              <a:pPr algn="ctr">
                <a:lnSpc>
                  <a:spcPts val="1960"/>
                </a:lnSpc>
              </a:pPr>
              <a:r>
                <a:rPr lang="en-US" sz="1400" spc="35">
                  <a:solidFill>
                    <a:srgbClr val="FFFFFF"/>
                  </a:solidFill>
                  <a:latin typeface="Poppins"/>
                  <a:ea typeface="Poppins"/>
                  <a:cs typeface="Poppins"/>
                  <a:sym typeface="Poppins"/>
                </a:rPr>
                <a:t>Visualize feature impact on prediction</a:t>
              </a:r>
            </a:p>
          </p:txBody>
        </p:sp>
      </p:grpSp>
      <p:grpSp>
        <p:nvGrpSpPr>
          <p:cNvPr name="Group 48" id="48"/>
          <p:cNvGrpSpPr/>
          <p:nvPr/>
        </p:nvGrpSpPr>
        <p:grpSpPr>
          <a:xfrm rot="0">
            <a:off x="13379964" y="6481404"/>
            <a:ext cx="3936125" cy="1003234"/>
            <a:chOff x="0" y="0"/>
            <a:chExt cx="1036675" cy="264226"/>
          </a:xfrm>
        </p:grpSpPr>
        <p:sp>
          <p:nvSpPr>
            <p:cNvPr name="Freeform 49" id="49"/>
            <p:cNvSpPr/>
            <p:nvPr/>
          </p:nvSpPr>
          <p:spPr>
            <a:xfrm flipH="false" flipV="false" rot="0">
              <a:off x="0" y="0"/>
              <a:ext cx="1036675" cy="264226"/>
            </a:xfrm>
            <a:custGeom>
              <a:avLst/>
              <a:gdLst/>
              <a:ahLst/>
              <a:cxnLst/>
              <a:rect r="r" b="b" t="t" l="l"/>
              <a:pathLst>
                <a:path h="264226" w="1036675">
                  <a:moveTo>
                    <a:pt x="100311" y="0"/>
                  </a:moveTo>
                  <a:lnTo>
                    <a:pt x="936363" y="0"/>
                  </a:lnTo>
                  <a:cubicBezTo>
                    <a:pt x="962968" y="0"/>
                    <a:pt x="988482" y="10568"/>
                    <a:pt x="1007294" y="29381"/>
                  </a:cubicBezTo>
                  <a:cubicBezTo>
                    <a:pt x="1026106" y="48193"/>
                    <a:pt x="1036675" y="73707"/>
                    <a:pt x="1036675" y="100311"/>
                  </a:cubicBezTo>
                  <a:lnTo>
                    <a:pt x="1036675" y="163915"/>
                  </a:lnTo>
                  <a:cubicBezTo>
                    <a:pt x="1036675" y="190519"/>
                    <a:pt x="1026106" y="216034"/>
                    <a:pt x="1007294" y="234846"/>
                  </a:cubicBezTo>
                  <a:cubicBezTo>
                    <a:pt x="988482" y="253658"/>
                    <a:pt x="962968" y="264226"/>
                    <a:pt x="936363" y="264226"/>
                  </a:cubicBezTo>
                  <a:lnTo>
                    <a:pt x="100311" y="264226"/>
                  </a:lnTo>
                  <a:cubicBezTo>
                    <a:pt x="73707" y="264226"/>
                    <a:pt x="48193" y="253658"/>
                    <a:pt x="29381" y="234846"/>
                  </a:cubicBezTo>
                  <a:cubicBezTo>
                    <a:pt x="10568" y="216034"/>
                    <a:pt x="0" y="190519"/>
                    <a:pt x="0" y="163915"/>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50" id="50"/>
            <p:cNvSpPr txBox="true"/>
            <p:nvPr/>
          </p:nvSpPr>
          <p:spPr>
            <a:xfrm>
              <a:off x="0" y="-66675"/>
              <a:ext cx="1036675"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Feature Importance</a:t>
              </a:r>
            </a:p>
            <a:p>
              <a:pPr algn="ctr">
                <a:lnSpc>
                  <a:spcPts val="1960"/>
                </a:lnSpc>
              </a:pPr>
              <a:r>
                <a:rPr lang="en-US" sz="1400" spc="35">
                  <a:solidFill>
                    <a:srgbClr val="FFFFFF"/>
                  </a:solidFill>
                  <a:latin typeface="Poppins"/>
                  <a:ea typeface="Poppins"/>
                  <a:cs typeface="Poppins"/>
                  <a:sym typeface="Poppins"/>
                </a:rPr>
                <a:t>Visualize features used in prediction</a:t>
              </a:r>
            </a:p>
          </p:txBody>
        </p:sp>
      </p:grpSp>
      <p:grpSp>
        <p:nvGrpSpPr>
          <p:cNvPr name="Group 51" id="51"/>
          <p:cNvGrpSpPr/>
          <p:nvPr/>
        </p:nvGrpSpPr>
        <p:grpSpPr>
          <a:xfrm rot="0">
            <a:off x="13379964" y="3134392"/>
            <a:ext cx="3936125" cy="1003234"/>
            <a:chOff x="0" y="0"/>
            <a:chExt cx="1036675" cy="264226"/>
          </a:xfrm>
        </p:grpSpPr>
        <p:sp>
          <p:nvSpPr>
            <p:cNvPr name="Freeform 52" id="52"/>
            <p:cNvSpPr/>
            <p:nvPr/>
          </p:nvSpPr>
          <p:spPr>
            <a:xfrm flipH="false" flipV="false" rot="0">
              <a:off x="0" y="0"/>
              <a:ext cx="1036675" cy="264226"/>
            </a:xfrm>
            <a:custGeom>
              <a:avLst/>
              <a:gdLst/>
              <a:ahLst/>
              <a:cxnLst/>
              <a:rect r="r" b="b" t="t" l="l"/>
              <a:pathLst>
                <a:path h="264226" w="1036675">
                  <a:moveTo>
                    <a:pt x="100311" y="0"/>
                  </a:moveTo>
                  <a:lnTo>
                    <a:pt x="936363" y="0"/>
                  </a:lnTo>
                  <a:cubicBezTo>
                    <a:pt x="962968" y="0"/>
                    <a:pt x="988482" y="10568"/>
                    <a:pt x="1007294" y="29381"/>
                  </a:cubicBezTo>
                  <a:cubicBezTo>
                    <a:pt x="1026106" y="48193"/>
                    <a:pt x="1036675" y="73707"/>
                    <a:pt x="1036675" y="100311"/>
                  </a:cubicBezTo>
                  <a:lnTo>
                    <a:pt x="1036675" y="163915"/>
                  </a:lnTo>
                  <a:cubicBezTo>
                    <a:pt x="1036675" y="190519"/>
                    <a:pt x="1026106" y="216034"/>
                    <a:pt x="1007294" y="234846"/>
                  </a:cubicBezTo>
                  <a:cubicBezTo>
                    <a:pt x="988482" y="253658"/>
                    <a:pt x="962968" y="264226"/>
                    <a:pt x="936363" y="264226"/>
                  </a:cubicBezTo>
                  <a:lnTo>
                    <a:pt x="100311" y="264226"/>
                  </a:lnTo>
                  <a:cubicBezTo>
                    <a:pt x="73707" y="264226"/>
                    <a:pt x="48193" y="253658"/>
                    <a:pt x="29381" y="234846"/>
                  </a:cubicBezTo>
                  <a:cubicBezTo>
                    <a:pt x="10568" y="216034"/>
                    <a:pt x="0" y="190519"/>
                    <a:pt x="0" y="163915"/>
                  </a:cubicBezTo>
                  <a:lnTo>
                    <a:pt x="0" y="100311"/>
                  </a:lnTo>
                  <a:cubicBezTo>
                    <a:pt x="0" y="73707"/>
                    <a:pt x="10568" y="48193"/>
                    <a:pt x="29381" y="29381"/>
                  </a:cubicBezTo>
                  <a:cubicBezTo>
                    <a:pt x="48193" y="10568"/>
                    <a:pt x="73707" y="0"/>
                    <a:pt x="100311" y="0"/>
                  </a:cubicBezTo>
                  <a:close/>
                </a:path>
              </a:pathLst>
            </a:custGeom>
            <a:solidFill>
              <a:srgbClr val="5789A2"/>
            </a:solidFill>
          </p:spPr>
        </p:sp>
        <p:sp>
          <p:nvSpPr>
            <p:cNvPr name="TextBox 53" id="53"/>
            <p:cNvSpPr txBox="true"/>
            <p:nvPr/>
          </p:nvSpPr>
          <p:spPr>
            <a:xfrm>
              <a:off x="0" y="-66675"/>
              <a:ext cx="1036675" cy="330901"/>
            </a:xfrm>
            <a:prstGeom prst="rect">
              <a:avLst/>
            </a:prstGeom>
          </p:spPr>
          <p:txBody>
            <a:bodyPr anchor="ctr" rtlCol="false" tIns="50800" lIns="50800" bIns="50800" rIns="50800"/>
            <a:lstStyle/>
            <a:p>
              <a:pPr algn="ctr">
                <a:lnSpc>
                  <a:spcPts val="3359"/>
                </a:lnSpc>
              </a:pPr>
              <a:r>
                <a:rPr lang="en-US" b="true" sz="2400" spc="60">
                  <a:solidFill>
                    <a:srgbClr val="FFFFFF"/>
                  </a:solidFill>
                  <a:latin typeface="Poppins Semi-Bold"/>
                  <a:ea typeface="Poppins Semi-Bold"/>
                  <a:cs typeface="Poppins Semi-Bold"/>
                  <a:sym typeface="Poppins Semi-Bold"/>
                </a:rPr>
                <a:t>Evaluation</a:t>
              </a:r>
            </a:p>
            <a:p>
              <a:pPr algn="ctr">
                <a:lnSpc>
                  <a:spcPts val="1960"/>
                </a:lnSpc>
              </a:pPr>
              <a:r>
                <a:rPr lang="en-US" sz="1400" spc="35">
                  <a:solidFill>
                    <a:srgbClr val="FFFFFF"/>
                  </a:solidFill>
                  <a:latin typeface="Poppins"/>
                  <a:ea typeface="Poppins"/>
                  <a:cs typeface="Poppins"/>
                  <a:sym typeface="Poppins"/>
                </a:rPr>
                <a:t>Precision, Recall, F1-score, Accuracy</a:t>
              </a:r>
            </a:p>
          </p:txBody>
        </p:sp>
      </p:grpSp>
      <p:sp>
        <p:nvSpPr>
          <p:cNvPr name="AutoShape 54" id="54"/>
          <p:cNvSpPr/>
          <p:nvPr/>
        </p:nvSpPr>
        <p:spPr>
          <a:xfrm flipH="true">
            <a:off x="9075560" y="4180065"/>
            <a:ext cx="0" cy="821208"/>
          </a:xfrm>
          <a:prstGeom prst="line">
            <a:avLst/>
          </a:prstGeom>
          <a:ln cap="flat" w="38100">
            <a:solidFill>
              <a:srgbClr val="000000"/>
            </a:solidFill>
            <a:prstDash val="solid"/>
            <a:headEnd type="none" len="sm" w="sm"/>
            <a:tailEnd type="arrow" len="sm" w="med"/>
          </a:ln>
        </p:spPr>
      </p:sp>
      <p:sp>
        <p:nvSpPr>
          <p:cNvPr name="AutoShape 55" id="55"/>
          <p:cNvSpPr/>
          <p:nvPr/>
        </p:nvSpPr>
        <p:spPr>
          <a:xfrm>
            <a:off x="11962417" y="6999511"/>
            <a:ext cx="1293722" cy="0"/>
          </a:xfrm>
          <a:prstGeom prst="line">
            <a:avLst/>
          </a:prstGeom>
          <a:ln cap="flat" w="38100">
            <a:solidFill>
              <a:srgbClr val="000000"/>
            </a:solidFill>
            <a:prstDash val="solid"/>
            <a:headEnd type="none" len="sm" w="sm"/>
            <a:tailEnd type="arrow" len="sm" w="med"/>
          </a:ln>
        </p:spPr>
      </p:sp>
      <p:sp>
        <p:nvSpPr>
          <p:cNvPr name="AutoShape 56" id="56"/>
          <p:cNvSpPr/>
          <p:nvPr/>
        </p:nvSpPr>
        <p:spPr>
          <a:xfrm>
            <a:off x="11962417" y="8628286"/>
            <a:ext cx="1293722" cy="0"/>
          </a:xfrm>
          <a:prstGeom prst="line">
            <a:avLst/>
          </a:prstGeom>
          <a:ln cap="flat" w="38100">
            <a:solidFill>
              <a:srgbClr val="000000"/>
            </a:solidFill>
            <a:prstDash val="solid"/>
            <a:headEnd type="none" len="sm" w="sm"/>
            <a:tailEnd type="arrow" len="sm" w="med"/>
          </a:ln>
        </p:spPr>
      </p:sp>
      <p:sp>
        <p:nvSpPr>
          <p:cNvPr name="AutoShape 57" id="57"/>
          <p:cNvSpPr/>
          <p:nvPr/>
        </p:nvSpPr>
        <p:spPr>
          <a:xfrm flipH="true" flipV="true">
            <a:off x="11333545" y="5564378"/>
            <a:ext cx="0" cy="564601"/>
          </a:xfrm>
          <a:prstGeom prst="line">
            <a:avLst/>
          </a:prstGeom>
          <a:ln cap="flat" w="38100">
            <a:solidFill>
              <a:srgbClr val="000000"/>
            </a:solidFill>
            <a:prstDash val="solid"/>
            <a:headEnd type="none" len="sm" w="sm"/>
            <a:tailEnd type="none" len="sm" w="sm"/>
          </a:ln>
        </p:spPr>
      </p:sp>
      <p:sp>
        <p:nvSpPr>
          <p:cNvPr name="AutoShape 58" id="58"/>
          <p:cNvSpPr/>
          <p:nvPr/>
        </p:nvSpPr>
        <p:spPr>
          <a:xfrm>
            <a:off x="11339008" y="6108434"/>
            <a:ext cx="623409" cy="0"/>
          </a:xfrm>
          <a:prstGeom prst="line">
            <a:avLst/>
          </a:prstGeom>
          <a:ln cap="flat" w="38100">
            <a:solidFill>
              <a:srgbClr val="000000"/>
            </a:solidFill>
            <a:prstDash val="solid"/>
            <a:headEnd type="none" len="sm" w="sm"/>
            <a:tailEnd type="none" len="sm" w="sm"/>
          </a:ln>
        </p:spPr>
      </p:sp>
      <p:sp>
        <p:nvSpPr>
          <p:cNvPr name="Freeform 59" id="59"/>
          <p:cNvSpPr/>
          <p:nvPr/>
        </p:nvSpPr>
        <p:spPr>
          <a:xfrm flipH="false" flipV="false" rot="0">
            <a:off x="6844797" y="7510104"/>
            <a:ext cx="4598406" cy="1810622"/>
          </a:xfrm>
          <a:custGeom>
            <a:avLst/>
            <a:gdLst/>
            <a:ahLst/>
            <a:cxnLst/>
            <a:rect r="r" b="b" t="t" l="l"/>
            <a:pathLst>
              <a:path h="1810622" w="4598406">
                <a:moveTo>
                  <a:pt x="0" y="0"/>
                </a:moveTo>
                <a:lnTo>
                  <a:pt x="4598406" y="0"/>
                </a:lnTo>
                <a:lnTo>
                  <a:pt x="4598406" y="1810623"/>
                </a:lnTo>
                <a:lnTo>
                  <a:pt x="0" y="1810623"/>
                </a:lnTo>
                <a:lnTo>
                  <a:pt x="0" y="0"/>
                </a:lnTo>
                <a:close/>
              </a:path>
            </a:pathLst>
          </a:custGeom>
          <a:blipFill>
            <a:blip r:embed="rId3"/>
            <a:stretch>
              <a:fillRect l="0" t="0" r="0" b="0"/>
            </a:stretch>
          </a:blipFill>
        </p:spPr>
      </p:sp>
      <p:sp>
        <p:nvSpPr>
          <p:cNvPr name="TextBox 60" id="60"/>
          <p:cNvSpPr txBox="true"/>
          <p:nvPr/>
        </p:nvSpPr>
        <p:spPr>
          <a:xfrm rot="0">
            <a:off x="335131" y="702637"/>
            <a:ext cx="11476644" cy="999491"/>
          </a:xfrm>
          <a:prstGeom prst="rect">
            <a:avLst/>
          </a:prstGeom>
        </p:spPr>
        <p:txBody>
          <a:bodyPr anchor="t" rtlCol="false" tIns="0" lIns="0" bIns="0" rIns="0">
            <a:spAutoFit/>
          </a:bodyPr>
          <a:lstStyle/>
          <a:p>
            <a:pPr algn="l">
              <a:lnSpc>
                <a:spcPts val="7280"/>
              </a:lnSpc>
            </a:pPr>
            <a:r>
              <a:rPr lang="en-US" sz="8000" spc="-200">
                <a:solidFill>
                  <a:srgbClr val="1D4355"/>
                </a:solidFill>
                <a:latin typeface="Poppins Bold"/>
                <a:ea typeface="Poppins Bold"/>
                <a:cs typeface="Poppins Bold"/>
                <a:sym typeface="Poppins Bold"/>
              </a:rPr>
              <a:t>Methods: Model</a:t>
            </a:r>
          </a:p>
        </p:txBody>
      </p:sp>
      <p:sp>
        <p:nvSpPr>
          <p:cNvPr name="TextBox 61" id="61"/>
          <p:cNvSpPr txBox="true"/>
          <p:nvPr/>
        </p:nvSpPr>
        <p:spPr>
          <a:xfrm rot="0">
            <a:off x="5037998" y="3624786"/>
            <a:ext cx="1174149" cy="362332"/>
          </a:xfrm>
          <a:prstGeom prst="rect">
            <a:avLst/>
          </a:prstGeom>
        </p:spPr>
        <p:txBody>
          <a:bodyPr anchor="t" rtlCol="false" tIns="0" lIns="0" bIns="0" rIns="0">
            <a:spAutoFit/>
          </a:bodyPr>
          <a:lstStyle/>
          <a:p>
            <a:pPr algn="ctr">
              <a:lnSpc>
                <a:spcPts val="1392"/>
              </a:lnSpc>
            </a:pPr>
            <a:r>
              <a:rPr lang="en-US" sz="1600" spc="40">
                <a:solidFill>
                  <a:srgbClr val="000000"/>
                </a:solidFill>
                <a:latin typeface="Poppins Light Bold"/>
                <a:ea typeface="Poppins Light Bold"/>
                <a:cs typeface="Poppins Light Bold"/>
                <a:sym typeface="Poppins Light Bold"/>
              </a:rPr>
              <a:t>CV Accuracy</a:t>
            </a:r>
          </a:p>
        </p:txBody>
      </p:sp>
      <p:sp>
        <p:nvSpPr>
          <p:cNvPr name="TextBox 62" id="62"/>
          <p:cNvSpPr txBox="true"/>
          <p:nvPr/>
        </p:nvSpPr>
        <p:spPr>
          <a:xfrm rot="0">
            <a:off x="1165941" y="2435190"/>
            <a:ext cx="3766042" cy="190882"/>
          </a:xfrm>
          <a:prstGeom prst="rect">
            <a:avLst/>
          </a:prstGeom>
        </p:spPr>
        <p:txBody>
          <a:bodyPr anchor="t" rtlCol="false" tIns="0" lIns="0" bIns="0" rIns="0">
            <a:spAutoFit/>
          </a:bodyPr>
          <a:lstStyle/>
          <a:p>
            <a:pPr algn="ctr">
              <a:lnSpc>
                <a:spcPts val="1392"/>
              </a:lnSpc>
            </a:pPr>
            <a:r>
              <a:rPr lang="en-US" sz="1600" spc="40">
                <a:solidFill>
                  <a:srgbClr val="000000"/>
                </a:solidFill>
                <a:latin typeface="Poppins Light Bold"/>
                <a:ea typeface="Poppins Light Bold"/>
                <a:cs typeface="Poppins Light Bold"/>
                <a:sym typeface="Poppins Light Bold"/>
              </a:rPr>
              <a:t>Group Cross Validation, k=5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5131" y="702637"/>
            <a:ext cx="13673447" cy="999491"/>
          </a:xfrm>
          <a:prstGeom prst="rect">
            <a:avLst/>
          </a:prstGeom>
        </p:spPr>
        <p:txBody>
          <a:bodyPr anchor="t" rtlCol="false" tIns="0" lIns="0" bIns="0" rIns="0">
            <a:spAutoFit/>
          </a:bodyPr>
          <a:lstStyle/>
          <a:p>
            <a:pPr algn="l">
              <a:lnSpc>
                <a:spcPts val="7280"/>
              </a:lnSpc>
            </a:pPr>
            <a:r>
              <a:rPr lang="en-US" sz="8000" spc="-200">
                <a:solidFill>
                  <a:srgbClr val="1D4355"/>
                </a:solidFill>
                <a:latin typeface="Poppins Bold"/>
                <a:ea typeface="Poppins Bold"/>
                <a:cs typeface="Poppins Bold"/>
                <a:sym typeface="Poppins Bold"/>
              </a:rPr>
              <a:t>Results</a:t>
            </a:r>
          </a:p>
        </p:txBody>
      </p:sp>
      <p:sp>
        <p:nvSpPr>
          <p:cNvPr name="Freeform 3" id="3"/>
          <p:cNvSpPr/>
          <p:nvPr/>
        </p:nvSpPr>
        <p:spPr>
          <a:xfrm flipH="false" flipV="false" rot="0">
            <a:off x="682739" y="3660311"/>
            <a:ext cx="8832529" cy="4271233"/>
          </a:xfrm>
          <a:custGeom>
            <a:avLst/>
            <a:gdLst/>
            <a:ahLst/>
            <a:cxnLst/>
            <a:rect r="r" b="b" t="t" l="l"/>
            <a:pathLst>
              <a:path h="4271233" w="8832529">
                <a:moveTo>
                  <a:pt x="0" y="0"/>
                </a:moveTo>
                <a:lnTo>
                  <a:pt x="8832529" y="0"/>
                </a:lnTo>
                <a:lnTo>
                  <a:pt x="8832529" y="4271232"/>
                </a:lnTo>
                <a:lnTo>
                  <a:pt x="0" y="4271232"/>
                </a:lnTo>
                <a:lnTo>
                  <a:pt x="0" y="0"/>
                </a:lnTo>
                <a:close/>
              </a:path>
            </a:pathLst>
          </a:custGeom>
          <a:blipFill>
            <a:blip r:embed="rId3"/>
            <a:stretch>
              <a:fillRect l="0" t="-11150" r="0" b="0"/>
            </a:stretch>
          </a:blipFill>
        </p:spPr>
      </p:sp>
      <p:sp>
        <p:nvSpPr>
          <p:cNvPr name="Freeform 4" id="4"/>
          <p:cNvSpPr/>
          <p:nvPr/>
        </p:nvSpPr>
        <p:spPr>
          <a:xfrm flipH="false" flipV="false" rot="0">
            <a:off x="10012645" y="2661430"/>
            <a:ext cx="7573962" cy="6691558"/>
          </a:xfrm>
          <a:custGeom>
            <a:avLst/>
            <a:gdLst/>
            <a:ahLst/>
            <a:cxnLst/>
            <a:rect r="r" b="b" t="t" l="l"/>
            <a:pathLst>
              <a:path h="6691558" w="7573962">
                <a:moveTo>
                  <a:pt x="0" y="0"/>
                </a:moveTo>
                <a:lnTo>
                  <a:pt x="7573962" y="0"/>
                </a:lnTo>
                <a:lnTo>
                  <a:pt x="7573962" y="6691558"/>
                </a:lnTo>
                <a:lnTo>
                  <a:pt x="0" y="6691558"/>
                </a:lnTo>
                <a:lnTo>
                  <a:pt x="0" y="0"/>
                </a:lnTo>
                <a:close/>
              </a:path>
            </a:pathLst>
          </a:custGeom>
          <a:blipFill>
            <a:blip r:embed="rId4"/>
            <a:stretch>
              <a:fillRect l="0" t="0" r="0" b="0"/>
            </a:stretch>
          </a:blipFill>
        </p:spPr>
      </p:sp>
      <p:sp>
        <p:nvSpPr>
          <p:cNvPr name="TextBox 5" id="5"/>
          <p:cNvSpPr txBox="true"/>
          <p:nvPr/>
        </p:nvSpPr>
        <p:spPr>
          <a:xfrm rot="0">
            <a:off x="533009" y="1586564"/>
            <a:ext cx="16947046" cy="869917"/>
          </a:xfrm>
          <a:prstGeom prst="rect">
            <a:avLst/>
          </a:prstGeom>
        </p:spPr>
        <p:txBody>
          <a:bodyPr anchor="t" rtlCol="false" tIns="0" lIns="0" bIns="0" rIns="0">
            <a:spAutoFit/>
          </a:bodyPr>
          <a:lstStyle/>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Random Forest top performing model</a:t>
            </a:r>
          </a:p>
          <a:p>
            <a:pPr algn="l" marL="756219" indent="-252073" lvl="2">
              <a:lnSpc>
                <a:spcPts val="2451"/>
              </a:lnSpc>
              <a:buFont typeface="Arial"/>
              <a:buChar char="⚬"/>
            </a:pPr>
            <a:r>
              <a:rPr lang="en-US" sz="1751" spc="43">
                <a:solidFill>
                  <a:srgbClr val="000000"/>
                </a:solidFill>
                <a:latin typeface="Poppins Light"/>
                <a:ea typeface="Poppins Light"/>
                <a:cs typeface="Poppins Light"/>
                <a:sym typeface="Poppins Light"/>
              </a:rPr>
              <a:t>{'model__n_estimators': 100, 'model__min_samples_split': 5, 'model__min_samples_leaf': 1, 'model__max_depth': 20}</a:t>
            </a:r>
          </a:p>
        </p:txBody>
      </p:sp>
      <p:grpSp>
        <p:nvGrpSpPr>
          <p:cNvPr name="Group 6" id="6"/>
          <p:cNvGrpSpPr/>
          <p:nvPr/>
        </p:nvGrpSpPr>
        <p:grpSpPr>
          <a:xfrm rot="0">
            <a:off x="12465528" y="6590096"/>
            <a:ext cx="4054166" cy="2068748"/>
            <a:chOff x="0" y="0"/>
            <a:chExt cx="812800" cy="414753"/>
          </a:xfrm>
        </p:grpSpPr>
        <p:sp>
          <p:nvSpPr>
            <p:cNvPr name="Freeform 7" id="7"/>
            <p:cNvSpPr/>
            <p:nvPr/>
          </p:nvSpPr>
          <p:spPr>
            <a:xfrm flipH="false" flipV="false" rot="0">
              <a:off x="0" y="0"/>
              <a:ext cx="812800" cy="414753"/>
            </a:xfrm>
            <a:custGeom>
              <a:avLst/>
              <a:gdLst/>
              <a:ahLst/>
              <a:cxnLst/>
              <a:rect r="r" b="b" t="t" l="l"/>
              <a:pathLst>
                <a:path h="414753" w="812800">
                  <a:moveTo>
                    <a:pt x="406400" y="0"/>
                  </a:moveTo>
                  <a:cubicBezTo>
                    <a:pt x="181951" y="0"/>
                    <a:pt x="0" y="92846"/>
                    <a:pt x="0" y="207377"/>
                  </a:cubicBezTo>
                  <a:cubicBezTo>
                    <a:pt x="0" y="321908"/>
                    <a:pt x="181951" y="414753"/>
                    <a:pt x="406400" y="414753"/>
                  </a:cubicBezTo>
                  <a:cubicBezTo>
                    <a:pt x="630849" y="414753"/>
                    <a:pt x="812800" y="321908"/>
                    <a:pt x="812800" y="207377"/>
                  </a:cubicBezTo>
                  <a:cubicBezTo>
                    <a:pt x="812800" y="92846"/>
                    <a:pt x="630849" y="0"/>
                    <a:pt x="406400" y="0"/>
                  </a:cubicBezTo>
                  <a:close/>
                </a:path>
              </a:pathLst>
            </a:custGeom>
            <a:solidFill>
              <a:srgbClr val="000000">
                <a:alpha val="0"/>
              </a:srgbClr>
            </a:solidFill>
            <a:ln w="38100" cap="sq">
              <a:solidFill>
                <a:srgbClr val="FF3131"/>
              </a:solidFill>
              <a:prstDash val="solid"/>
              <a:miter/>
            </a:ln>
          </p:spPr>
        </p:sp>
        <p:sp>
          <p:nvSpPr>
            <p:cNvPr name="TextBox 8" id="8"/>
            <p:cNvSpPr txBox="true"/>
            <p:nvPr/>
          </p:nvSpPr>
          <p:spPr>
            <a:xfrm>
              <a:off x="76200" y="-27792"/>
              <a:ext cx="660400" cy="403662"/>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5131" y="702637"/>
            <a:ext cx="13673447" cy="999491"/>
          </a:xfrm>
          <a:prstGeom prst="rect">
            <a:avLst/>
          </a:prstGeom>
        </p:spPr>
        <p:txBody>
          <a:bodyPr anchor="t" rtlCol="false" tIns="0" lIns="0" bIns="0" rIns="0">
            <a:spAutoFit/>
          </a:bodyPr>
          <a:lstStyle/>
          <a:p>
            <a:pPr algn="l">
              <a:lnSpc>
                <a:spcPts val="7280"/>
              </a:lnSpc>
            </a:pPr>
            <a:r>
              <a:rPr lang="en-US" sz="8000" spc="-200">
                <a:solidFill>
                  <a:srgbClr val="1D4355"/>
                </a:solidFill>
                <a:latin typeface="Poppins Bold"/>
                <a:ea typeface="Poppins Bold"/>
                <a:cs typeface="Poppins Bold"/>
                <a:sym typeface="Poppins Bold"/>
              </a:rPr>
              <a:t>Results</a:t>
            </a:r>
          </a:p>
        </p:txBody>
      </p:sp>
      <p:sp>
        <p:nvSpPr>
          <p:cNvPr name="Freeform 3" id="3"/>
          <p:cNvSpPr/>
          <p:nvPr/>
        </p:nvSpPr>
        <p:spPr>
          <a:xfrm flipH="false" flipV="false" rot="0">
            <a:off x="519951" y="3435633"/>
            <a:ext cx="9765480" cy="5822667"/>
          </a:xfrm>
          <a:custGeom>
            <a:avLst/>
            <a:gdLst/>
            <a:ahLst/>
            <a:cxnLst/>
            <a:rect r="r" b="b" t="t" l="l"/>
            <a:pathLst>
              <a:path h="5822667" w="9765480">
                <a:moveTo>
                  <a:pt x="0" y="0"/>
                </a:moveTo>
                <a:lnTo>
                  <a:pt x="9765479" y="0"/>
                </a:lnTo>
                <a:lnTo>
                  <a:pt x="9765479" y="5822667"/>
                </a:lnTo>
                <a:lnTo>
                  <a:pt x="0" y="5822667"/>
                </a:lnTo>
                <a:lnTo>
                  <a:pt x="0" y="0"/>
                </a:lnTo>
                <a:close/>
              </a:path>
            </a:pathLst>
          </a:custGeom>
          <a:blipFill>
            <a:blip r:embed="rId3"/>
            <a:stretch>
              <a:fillRect l="0" t="0" r="0" b="0"/>
            </a:stretch>
          </a:blipFill>
        </p:spPr>
      </p:sp>
      <p:sp>
        <p:nvSpPr>
          <p:cNvPr name="Freeform 4" id="4"/>
          <p:cNvSpPr/>
          <p:nvPr/>
        </p:nvSpPr>
        <p:spPr>
          <a:xfrm flipH="false" flipV="false" rot="0">
            <a:off x="10542941" y="1028700"/>
            <a:ext cx="7218301" cy="8740598"/>
          </a:xfrm>
          <a:custGeom>
            <a:avLst/>
            <a:gdLst/>
            <a:ahLst/>
            <a:cxnLst/>
            <a:rect r="r" b="b" t="t" l="l"/>
            <a:pathLst>
              <a:path h="8740598" w="7218301">
                <a:moveTo>
                  <a:pt x="0" y="0"/>
                </a:moveTo>
                <a:lnTo>
                  <a:pt x="7218302" y="0"/>
                </a:lnTo>
                <a:lnTo>
                  <a:pt x="7218302" y="8740598"/>
                </a:lnTo>
                <a:lnTo>
                  <a:pt x="0" y="8740598"/>
                </a:lnTo>
                <a:lnTo>
                  <a:pt x="0" y="0"/>
                </a:lnTo>
                <a:close/>
              </a:path>
            </a:pathLst>
          </a:custGeom>
          <a:blipFill>
            <a:blip r:embed="rId4"/>
            <a:stretch>
              <a:fillRect l="0" t="0" r="0" b="-405"/>
            </a:stretch>
          </a:blipFill>
        </p:spPr>
      </p:sp>
      <p:grpSp>
        <p:nvGrpSpPr>
          <p:cNvPr name="Group 5" id="5"/>
          <p:cNvGrpSpPr/>
          <p:nvPr/>
        </p:nvGrpSpPr>
        <p:grpSpPr>
          <a:xfrm rot="0">
            <a:off x="519951" y="5989470"/>
            <a:ext cx="1417105" cy="1989819"/>
            <a:chOff x="0" y="0"/>
            <a:chExt cx="1032047" cy="1449142"/>
          </a:xfrm>
        </p:grpSpPr>
        <p:sp>
          <p:nvSpPr>
            <p:cNvPr name="Freeform 6" id="6"/>
            <p:cNvSpPr/>
            <p:nvPr/>
          </p:nvSpPr>
          <p:spPr>
            <a:xfrm flipH="false" flipV="false" rot="0">
              <a:off x="0" y="0"/>
              <a:ext cx="1032047" cy="1449142"/>
            </a:xfrm>
            <a:custGeom>
              <a:avLst/>
              <a:gdLst/>
              <a:ahLst/>
              <a:cxnLst/>
              <a:rect r="r" b="b" t="t" l="l"/>
              <a:pathLst>
                <a:path h="1449142" w="1032047">
                  <a:moveTo>
                    <a:pt x="0" y="0"/>
                  </a:moveTo>
                  <a:lnTo>
                    <a:pt x="1032047" y="0"/>
                  </a:lnTo>
                  <a:lnTo>
                    <a:pt x="1032047" y="1449142"/>
                  </a:lnTo>
                  <a:lnTo>
                    <a:pt x="0" y="1449142"/>
                  </a:lnTo>
                  <a:close/>
                </a:path>
              </a:pathLst>
            </a:custGeom>
            <a:solidFill>
              <a:srgbClr val="B1D1E1">
                <a:alpha val="34902"/>
              </a:srgbClr>
            </a:solidFill>
          </p:spPr>
        </p:sp>
        <p:sp>
          <p:nvSpPr>
            <p:cNvPr name="TextBox 7" id="7"/>
            <p:cNvSpPr txBox="true"/>
            <p:nvPr/>
          </p:nvSpPr>
          <p:spPr>
            <a:xfrm>
              <a:off x="0" y="-66675"/>
              <a:ext cx="1032047" cy="1515817"/>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519951" y="3719669"/>
            <a:ext cx="1417105" cy="2269801"/>
            <a:chOff x="0" y="0"/>
            <a:chExt cx="1032047" cy="1653047"/>
          </a:xfrm>
        </p:grpSpPr>
        <p:sp>
          <p:nvSpPr>
            <p:cNvPr name="Freeform 9" id="9"/>
            <p:cNvSpPr/>
            <p:nvPr/>
          </p:nvSpPr>
          <p:spPr>
            <a:xfrm flipH="false" flipV="false" rot="0">
              <a:off x="0" y="0"/>
              <a:ext cx="1032047" cy="1653047"/>
            </a:xfrm>
            <a:custGeom>
              <a:avLst/>
              <a:gdLst/>
              <a:ahLst/>
              <a:cxnLst/>
              <a:rect r="r" b="b" t="t" l="l"/>
              <a:pathLst>
                <a:path h="1653047" w="1032047">
                  <a:moveTo>
                    <a:pt x="0" y="0"/>
                  </a:moveTo>
                  <a:lnTo>
                    <a:pt x="1032047" y="0"/>
                  </a:lnTo>
                  <a:lnTo>
                    <a:pt x="1032047" y="1653047"/>
                  </a:lnTo>
                  <a:lnTo>
                    <a:pt x="0" y="1653047"/>
                  </a:lnTo>
                  <a:close/>
                </a:path>
              </a:pathLst>
            </a:custGeom>
            <a:solidFill>
              <a:srgbClr val="FFDE59">
                <a:alpha val="25882"/>
              </a:srgbClr>
            </a:solidFill>
          </p:spPr>
        </p:sp>
        <p:sp>
          <p:nvSpPr>
            <p:cNvPr name="TextBox 10" id="10"/>
            <p:cNvSpPr txBox="true"/>
            <p:nvPr/>
          </p:nvSpPr>
          <p:spPr>
            <a:xfrm>
              <a:off x="0" y="-66675"/>
              <a:ext cx="1032047" cy="1719722"/>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10542941" y="1265961"/>
            <a:ext cx="1678051" cy="3120587"/>
            <a:chOff x="0" y="0"/>
            <a:chExt cx="1222088" cy="2272656"/>
          </a:xfrm>
        </p:grpSpPr>
        <p:sp>
          <p:nvSpPr>
            <p:cNvPr name="Freeform 12" id="12"/>
            <p:cNvSpPr/>
            <p:nvPr/>
          </p:nvSpPr>
          <p:spPr>
            <a:xfrm flipH="false" flipV="false" rot="0">
              <a:off x="0" y="0"/>
              <a:ext cx="1222088" cy="2272656"/>
            </a:xfrm>
            <a:custGeom>
              <a:avLst/>
              <a:gdLst/>
              <a:ahLst/>
              <a:cxnLst/>
              <a:rect r="r" b="b" t="t" l="l"/>
              <a:pathLst>
                <a:path h="2272656" w="1222088">
                  <a:moveTo>
                    <a:pt x="0" y="0"/>
                  </a:moveTo>
                  <a:lnTo>
                    <a:pt x="1222088" y="0"/>
                  </a:lnTo>
                  <a:lnTo>
                    <a:pt x="1222088" y="2272656"/>
                  </a:lnTo>
                  <a:lnTo>
                    <a:pt x="0" y="2272656"/>
                  </a:lnTo>
                  <a:close/>
                </a:path>
              </a:pathLst>
            </a:custGeom>
            <a:solidFill>
              <a:srgbClr val="FFDE59">
                <a:alpha val="25882"/>
              </a:srgbClr>
            </a:solidFill>
          </p:spPr>
        </p:sp>
        <p:sp>
          <p:nvSpPr>
            <p:cNvPr name="TextBox 13" id="13"/>
            <p:cNvSpPr txBox="true"/>
            <p:nvPr/>
          </p:nvSpPr>
          <p:spPr>
            <a:xfrm>
              <a:off x="0" y="-66675"/>
              <a:ext cx="1222088" cy="2339331"/>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10542941" y="4404089"/>
            <a:ext cx="1678051" cy="881908"/>
            <a:chOff x="0" y="0"/>
            <a:chExt cx="1222088" cy="642274"/>
          </a:xfrm>
        </p:grpSpPr>
        <p:sp>
          <p:nvSpPr>
            <p:cNvPr name="Freeform 15" id="15"/>
            <p:cNvSpPr/>
            <p:nvPr/>
          </p:nvSpPr>
          <p:spPr>
            <a:xfrm flipH="false" flipV="false" rot="0">
              <a:off x="0" y="0"/>
              <a:ext cx="1222088" cy="642274"/>
            </a:xfrm>
            <a:custGeom>
              <a:avLst/>
              <a:gdLst/>
              <a:ahLst/>
              <a:cxnLst/>
              <a:rect r="r" b="b" t="t" l="l"/>
              <a:pathLst>
                <a:path h="642274" w="1222088">
                  <a:moveTo>
                    <a:pt x="0" y="0"/>
                  </a:moveTo>
                  <a:lnTo>
                    <a:pt x="1222088" y="0"/>
                  </a:lnTo>
                  <a:lnTo>
                    <a:pt x="1222088" y="642274"/>
                  </a:lnTo>
                  <a:lnTo>
                    <a:pt x="0" y="642274"/>
                  </a:lnTo>
                  <a:close/>
                </a:path>
              </a:pathLst>
            </a:custGeom>
            <a:solidFill>
              <a:srgbClr val="B1D1E1">
                <a:alpha val="34902"/>
              </a:srgbClr>
            </a:solidFill>
          </p:spPr>
        </p:sp>
        <p:sp>
          <p:nvSpPr>
            <p:cNvPr name="TextBox 16" id="16"/>
            <p:cNvSpPr txBox="true"/>
            <p:nvPr/>
          </p:nvSpPr>
          <p:spPr>
            <a:xfrm>
              <a:off x="0" y="-66675"/>
              <a:ext cx="1222088" cy="708949"/>
            </a:xfrm>
            <a:prstGeom prst="rect">
              <a:avLst/>
            </a:prstGeom>
          </p:spPr>
          <p:txBody>
            <a:bodyPr anchor="ctr" rtlCol="false" tIns="50800" lIns="50800" bIns="50800" rIns="50800"/>
            <a:lstStyle/>
            <a:p>
              <a:pPr algn="ctr">
                <a:lnSpc>
                  <a:spcPts val="3359"/>
                </a:lnSpc>
              </a:pPr>
            </a:p>
          </p:txBody>
        </p:sp>
      </p:grpSp>
      <p:grpSp>
        <p:nvGrpSpPr>
          <p:cNvPr name="Group 17" id="17"/>
          <p:cNvGrpSpPr/>
          <p:nvPr/>
        </p:nvGrpSpPr>
        <p:grpSpPr>
          <a:xfrm rot="0">
            <a:off x="10542941" y="5709488"/>
            <a:ext cx="1678051" cy="1041375"/>
            <a:chOff x="0" y="0"/>
            <a:chExt cx="1222088" cy="758411"/>
          </a:xfrm>
        </p:grpSpPr>
        <p:sp>
          <p:nvSpPr>
            <p:cNvPr name="Freeform 18" id="18"/>
            <p:cNvSpPr/>
            <p:nvPr/>
          </p:nvSpPr>
          <p:spPr>
            <a:xfrm flipH="false" flipV="false" rot="0">
              <a:off x="0" y="0"/>
              <a:ext cx="1222088" cy="758411"/>
            </a:xfrm>
            <a:custGeom>
              <a:avLst/>
              <a:gdLst/>
              <a:ahLst/>
              <a:cxnLst/>
              <a:rect r="r" b="b" t="t" l="l"/>
              <a:pathLst>
                <a:path h="758411" w="1222088">
                  <a:moveTo>
                    <a:pt x="0" y="0"/>
                  </a:moveTo>
                  <a:lnTo>
                    <a:pt x="1222088" y="0"/>
                  </a:lnTo>
                  <a:lnTo>
                    <a:pt x="1222088" y="758411"/>
                  </a:lnTo>
                  <a:lnTo>
                    <a:pt x="0" y="758411"/>
                  </a:lnTo>
                  <a:close/>
                </a:path>
              </a:pathLst>
            </a:custGeom>
            <a:solidFill>
              <a:srgbClr val="B1D1E1">
                <a:alpha val="34902"/>
              </a:srgbClr>
            </a:solidFill>
          </p:spPr>
        </p:sp>
        <p:sp>
          <p:nvSpPr>
            <p:cNvPr name="TextBox 19" id="19"/>
            <p:cNvSpPr txBox="true"/>
            <p:nvPr/>
          </p:nvSpPr>
          <p:spPr>
            <a:xfrm>
              <a:off x="0" y="-66675"/>
              <a:ext cx="1222088" cy="825086"/>
            </a:xfrm>
            <a:prstGeom prst="rect">
              <a:avLst/>
            </a:prstGeom>
          </p:spPr>
          <p:txBody>
            <a:bodyPr anchor="ctr" rtlCol="false" tIns="50800" lIns="50800" bIns="50800" rIns="50800"/>
            <a:lstStyle/>
            <a:p>
              <a:pPr algn="ctr">
                <a:lnSpc>
                  <a:spcPts val="3359"/>
                </a:lnSpc>
              </a:pPr>
            </a:p>
          </p:txBody>
        </p:sp>
      </p:grpSp>
      <p:grpSp>
        <p:nvGrpSpPr>
          <p:cNvPr name="Group 20" id="20"/>
          <p:cNvGrpSpPr/>
          <p:nvPr/>
        </p:nvGrpSpPr>
        <p:grpSpPr>
          <a:xfrm rot="0">
            <a:off x="10542941" y="7097382"/>
            <a:ext cx="1678051" cy="881908"/>
            <a:chOff x="0" y="0"/>
            <a:chExt cx="1222088" cy="642274"/>
          </a:xfrm>
        </p:grpSpPr>
        <p:sp>
          <p:nvSpPr>
            <p:cNvPr name="Freeform 21" id="21"/>
            <p:cNvSpPr/>
            <p:nvPr/>
          </p:nvSpPr>
          <p:spPr>
            <a:xfrm flipH="false" flipV="false" rot="0">
              <a:off x="0" y="0"/>
              <a:ext cx="1222088" cy="642274"/>
            </a:xfrm>
            <a:custGeom>
              <a:avLst/>
              <a:gdLst/>
              <a:ahLst/>
              <a:cxnLst/>
              <a:rect r="r" b="b" t="t" l="l"/>
              <a:pathLst>
                <a:path h="642274" w="1222088">
                  <a:moveTo>
                    <a:pt x="0" y="0"/>
                  </a:moveTo>
                  <a:lnTo>
                    <a:pt x="1222088" y="0"/>
                  </a:lnTo>
                  <a:lnTo>
                    <a:pt x="1222088" y="642274"/>
                  </a:lnTo>
                  <a:lnTo>
                    <a:pt x="0" y="642274"/>
                  </a:lnTo>
                  <a:close/>
                </a:path>
              </a:pathLst>
            </a:custGeom>
            <a:solidFill>
              <a:srgbClr val="B1D1E1">
                <a:alpha val="34902"/>
              </a:srgbClr>
            </a:solidFill>
          </p:spPr>
        </p:sp>
        <p:sp>
          <p:nvSpPr>
            <p:cNvPr name="TextBox 22" id="22"/>
            <p:cNvSpPr txBox="true"/>
            <p:nvPr/>
          </p:nvSpPr>
          <p:spPr>
            <a:xfrm>
              <a:off x="0" y="-66675"/>
              <a:ext cx="1222088" cy="708949"/>
            </a:xfrm>
            <a:prstGeom prst="rect">
              <a:avLst/>
            </a:prstGeom>
          </p:spPr>
          <p:txBody>
            <a:bodyPr anchor="ctr" rtlCol="false" tIns="50800" lIns="50800" bIns="50800" rIns="50800"/>
            <a:lstStyle/>
            <a:p>
              <a:pPr algn="ctr">
                <a:lnSpc>
                  <a:spcPts val="3359"/>
                </a:lnSpc>
              </a:pPr>
            </a:p>
          </p:txBody>
        </p:sp>
      </p:grpSp>
      <p:grpSp>
        <p:nvGrpSpPr>
          <p:cNvPr name="Group 23" id="23"/>
          <p:cNvGrpSpPr/>
          <p:nvPr/>
        </p:nvGrpSpPr>
        <p:grpSpPr>
          <a:xfrm rot="0">
            <a:off x="10542941" y="8376392"/>
            <a:ext cx="1678051" cy="881908"/>
            <a:chOff x="0" y="0"/>
            <a:chExt cx="1222088" cy="642274"/>
          </a:xfrm>
        </p:grpSpPr>
        <p:sp>
          <p:nvSpPr>
            <p:cNvPr name="Freeform 24" id="24"/>
            <p:cNvSpPr/>
            <p:nvPr/>
          </p:nvSpPr>
          <p:spPr>
            <a:xfrm flipH="false" flipV="false" rot="0">
              <a:off x="0" y="0"/>
              <a:ext cx="1222088" cy="642274"/>
            </a:xfrm>
            <a:custGeom>
              <a:avLst/>
              <a:gdLst/>
              <a:ahLst/>
              <a:cxnLst/>
              <a:rect r="r" b="b" t="t" l="l"/>
              <a:pathLst>
                <a:path h="642274" w="1222088">
                  <a:moveTo>
                    <a:pt x="0" y="0"/>
                  </a:moveTo>
                  <a:lnTo>
                    <a:pt x="1222088" y="0"/>
                  </a:lnTo>
                  <a:lnTo>
                    <a:pt x="1222088" y="642274"/>
                  </a:lnTo>
                  <a:lnTo>
                    <a:pt x="0" y="642274"/>
                  </a:lnTo>
                  <a:close/>
                </a:path>
              </a:pathLst>
            </a:custGeom>
            <a:solidFill>
              <a:srgbClr val="B1D1E1">
                <a:alpha val="34902"/>
              </a:srgbClr>
            </a:solidFill>
          </p:spPr>
        </p:sp>
        <p:sp>
          <p:nvSpPr>
            <p:cNvPr name="TextBox 25" id="25"/>
            <p:cNvSpPr txBox="true"/>
            <p:nvPr/>
          </p:nvSpPr>
          <p:spPr>
            <a:xfrm>
              <a:off x="0" y="-66675"/>
              <a:ext cx="1222088" cy="708949"/>
            </a:xfrm>
            <a:prstGeom prst="rect">
              <a:avLst/>
            </a:prstGeom>
          </p:spPr>
          <p:txBody>
            <a:bodyPr anchor="ctr" rtlCol="false" tIns="50800" lIns="50800" bIns="50800" rIns="50800"/>
            <a:lstStyle/>
            <a:p>
              <a:pPr algn="ctr">
                <a:lnSpc>
                  <a:spcPts val="3359"/>
                </a:lnSpc>
              </a:pPr>
            </a:p>
          </p:txBody>
        </p:sp>
      </p:grpSp>
      <p:grpSp>
        <p:nvGrpSpPr>
          <p:cNvPr name="Group 26" id="26"/>
          <p:cNvGrpSpPr/>
          <p:nvPr/>
        </p:nvGrpSpPr>
        <p:grpSpPr>
          <a:xfrm rot="0">
            <a:off x="10542941" y="5305047"/>
            <a:ext cx="1678051" cy="404441"/>
            <a:chOff x="0" y="0"/>
            <a:chExt cx="1222088" cy="294546"/>
          </a:xfrm>
        </p:grpSpPr>
        <p:sp>
          <p:nvSpPr>
            <p:cNvPr name="Freeform 27" id="27"/>
            <p:cNvSpPr/>
            <p:nvPr/>
          </p:nvSpPr>
          <p:spPr>
            <a:xfrm flipH="false" flipV="false" rot="0">
              <a:off x="0" y="0"/>
              <a:ext cx="1222088" cy="294546"/>
            </a:xfrm>
            <a:custGeom>
              <a:avLst/>
              <a:gdLst/>
              <a:ahLst/>
              <a:cxnLst/>
              <a:rect r="r" b="b" t="t" l="l"/>
              <a:pathLst>
                <a:path h="294546" w="1222088">
                  <a:moveTo>
                    <a:pt x="0" y="0"/>
                  </a:moveTo>
                  <a:lnTo>
                    <a:pt x="1222088" y="0"/>
                  </a:lnTo>
                  <a:lnTo>
                    <a:pt x="1222088" y="294546"/>
                  </a:lnTo>
                  <a:lnTo>
                    <a:pt x="0" y="294546"/>
                  </a:lnTo>
                  <a:close/>
                </a:path>
              </a:pathLst>
            </a:custGeom>
            <a:solidFill>
              <a:srgbClr val="FFDE59">
                <a:alpha val="25882"/>
              </a:srgbClr>
            </a:solidFill>
          </p:spPr>
        </p:sp>
        <p:sp>
          <p:nvSpPr>
            <p:cNvPr name="TextBox 28" id="28"/>
            <p:cNvSpPr txBox="true"/>
            <p:nvPr/>
          </p:nvSpPr>
          <p:spPr>
            <a:xfrm>
              <a:off x="0" y="-66675"/>
              <a:ext cx="1222088" cy="361221"/>
            </a:xfrm>
            <a:prstGeom prst="rect">
              <a:avLst/>
            </a:prstGeom>
          </p:spPr>
          <p:txBody>
            <a:bodyPr anchor="ctr" rtlCol="false" tIns="50800" lIns="50800" bIns="50800" rIns="50800"/>
            <a:lstStyle/>
            <a:p>
              <a:pPr algn="ctr">
                <a:lnSpc>
                  <a:spcPts val="3359"/>
                </a:lnSpc>
              </a:pPr>
            </a:p>
          </p:txBody>
        </p:sp>
      </p:grpSp>
      <p:grpSp>
        <p:nvGrpSpPr>
          <p:cNvPr name="Group 29" id="29"/>
          <p:cNvGrpSpPr/>
          <p:nvPr/>
        </p:nvGrpSpPr>
        <p:grpSpPr>
          <a:xfrm rot="0">
            <a:off x="519951" y="8190330"/>
            <a:ext cx="1417105" cy="369320"/>
            <a:chOff x="0" y="0"/>
            <a:chExt cx="1032047" cy="268968"/>
          </a:xfrm>
        </p:grpSpPr>
        <p:sp>
          <p:nvSpPr>
            <p:cNvPr name="Freeform 30" id="30"/>
            <p:cNvSpPr/>
            <p:nvPr/>
          </p:nvSpPr>
          <p:spPr>
            <a:xfrm flipH="false" flipV="false" rot="0">
              <a:off x="0" y="0"/>
              <a:ext cx="1032047" cy="268968"/>
            </a:xfrm>
            <a:custGeom>
              <a:avLst/>
              <a:gdLst/>
              <a:ahLst/>
              <a:cxnLst/>
              <a:rect r="r" b="b" t="t" l="l"/>
              <a:pathLst>
                <a:path h="268968" w="1032047">
                  <a:moveTo>
                    <a:pt x="0" y="0"/>
                  </a:moveTo>
                  <a:lnTo>
                    <a:pt x="1032047" y="0"/>
                  </a:lnTo>
                  <a:lnTo>
                    <a:pt x="1032047" y="268968"/>
                  </a:lnTo>
                  <a:lnTo>
                    <a:pt x="0" y="268968"/>
                  </a:lnTo>
                  <a:close/>
                </a:path>
              </a:pathLst>
            </a:custGeom>
            <a:solidFill>
              <a:srgbClr val="FFDE59">
                <a:alpha val="25882"/>
              </a:srgbClr>
            </a:solidFill>
          </p:spPr>
        </p:sp>
        <p:sp>
          <p:nvSpPr>
            <p:cNvPr name="TextBox 31" id="31"/>
            <p:cNvSpPr txBox="true"/>
            <p:nvPr/>
          </p:nvSpPr>
          <p:spPr>
            <a:xfrm>
              <a:off x="0" y="-66675"/>
              <a:ext cx="1032047" cy="335643"/>
            </a:xfrm>
            <a:prstGeom prst="rect">
              <a:avLst/>
            </a:prstGeom>
          </p:spPr>
          <p:txBody>
            <a:bodyPr anchor="ctr" rtlCol="false" tIns="50800" lIns="50800" bIns="50800" rIns="50800"/>
            <a:lstStyle/>
            <a:p>
              <a:pPr algn="ctr">
                <a:lnSpc>
                  <a:spcPts val="3359"/>
                </a:lnSpc>
              </a:pPr>
            </a:p>
          </p:txBody>
        </p:sp>
      </p:grpSp>
      <p:grpSp>
        <p:nvGrpSpPr>
          <p:cNvPr name="Group 32" id="32"/>
          <p:cNvGrpSpPr/>
          <p:nvPr/>
        </p:nvGrpSpPr>
        <p:grpSpPr>
          <a:xfrm rot="0">
            <a:off x="1228503" y="2191046"/>
            <a:ext cx="9060663" cy="942304"/>
            <a:chOff x="0" y="0"/>
            <a:chExt cx="12080884" cy="1256405"/>
          </a:xfrm>
        </p:grpSpPr>
        <p:sp>
          <p:nvSpPr>
            <p:cNvPr name="TextBox 33" id="33"/>
            <p:cNvSpPr txBox="true"/>
            <p:nvPr/>
          </p:nvSpPr>
          <p:spPr>
            <a:xfrm rot="0">
              <a:off x="0" y="120548"/>
              <a:ext cx="12080884" cy="943354"/>
            </a:xfrm>
            <a:prstGeom prst="rect">
              <a:avLst/>
            </a:prstGeom>
          </p:spPr>
          <p:txBody>
            <a:bodyPr anchor="t" rtlCol="false" tIns="0" lIns="0" bIns="0" rIns="0">
              <a:spAutoFit/>
            </a:bodyPr>
            <a:lstStyle/>
            <a:p>
              <a:pPr algn="l">
                <a:lnSpc>
                  <a:spcPts val="2871"/>
                </a:lnSpc>
              </a:pPr>
              <a:r>
                <a:rPr lang="en-US" sz="2051" spc="51">
                  <a:solidFill>
                    <a:srgbClr val="000000"/>
                  </a:solidFill>
                  <a:latin typeface="Poppins Light"/>
                  <a:ea typeface="Poppins Light"/>
                  <a:cs typeface="Poppins Light"/>
                  <a:sym typeface="Poppins Light"/>
                </a:rPr>
                <a:t>Cognitive features</a:t>
              </a:r>
            </a:p>
            <a:p>
              <a:pPr algn="l">
                <a:lnSpc>
                  <a:spcPts val="2871"/>
                </a:lnSpc>
              </a:pPr>
              <a:r>
                <a:rPr lang="en-US" sz="2051" spc="51">
                  <a:solidFill>
                    <a:srgbClr val="000000"/>
                  </a:solidFill>
                  <a:latin typeface="Poppins Light"/>
                  <a:ea typeface="Poppins Light"/>
                  <a:cs typeface="Poppins Light"/>
                  <a:sym typeface="Poppins Light"/>
                </a:rPr>
                <a:t>ASL CBF Features</a:t>
              </a:r>
            </a:p>
          </p:txBody>
        </p:sp>
        <p:grpSp>
          <p:nvGrpSpPr>
            <p:cNvPr name="Group 34" id="34"/>
            <p:cNvGrpSpPr/>
            <p:nvPr/>
          </p:nvGrpSpPr>
          <p:grpSpPr>
            <a:xfrm rot="0">
              <a:off x="0" y="0"/>
              <a:ext cx="3397164" cy="616038"/>
              <a:chOff x="0" y="0"/>
              <a:chExt cx="1855560" cy="336485"/>
            </a:xfrm>
          </p:grpSpPr>
          <p:sp>
            <p:nvSpPr>
              <p:cNvPr name="Freeform 35" id="35"/>
              <p:cNvSpPr/>
              <p:nvPr/>
            </p:nvSpPr>
            <p:spPr>
              <a:xfrm flipH="false" flipV="false" rot="0">
                <a:off x="0" y="0"/>
                <a:ext cx="1855560" cy="336485"/>
              </a:xfrm>
              <a:custGeom>
                <a:avLst/>
                <a:gdLst/>
                <a:ahLst/>
                <a:cxnLst/>
                <a:rect r="r" b="b" t="t" l="l"/>
                <a:pathLst>
                  <a:path h="336485" w="1855560">
                    <a:moveTo>
                      <a:pt x="0" y="0"/>
                    </a:moveTo>
                    <a:lnTo>
                      <a:pt x="1855560" y="0"/>
                    </a:lnTo>
                    <a:lnTo>
                      <a:pt x="1855560" y="336485"/>
                    </a:lnTo>
                    <a:lnTo>
                      <a:pt x="0" y="336485"/>
                    </a:lnTo>
                    <a:close/>
                  </a:path>
                </a:pathLst>
              </a:custGeom>
              <a:solidFill>
                <a:srgbClr val="FFDE59">
                  <a:alpha val="25882"/>
                </a:srgbClr>
              </a:solidFill>
            </p:spPr>
          </p:sp>
          <p:sp>
            <p:nvSpPr>
              <p:cNvPr name="TextBox 36" id="36"/>
              <p:cNvSpPr txBox="true"/>
              <p:nvPr/>
            </p:nvSpPr>
            <p:spPr>
              <a:xfrm>
                <a:off x="0" y="-66675"/>
                <a:ext cx="1855560" cy="403160"/>
              </a:xfrm>
              <a:prstGeom prst="rect">
                <a:avLst/>
              </a:prstGeom>
            </p:spPr>
            <p:txBody>
              <a:bodyPr anchor="ctr" rtlCol="false" tIns="50800" lIns="50800" bIns="50800" rIns="50800"/>
              <a:lstStyle/>
              <a:p>
                <a:pPr algn="ctr">
                  <a:lnSpc>
                    <a:spcPts val="3359"/>
                  </a:lnSpc>
                </a:pPr>
              </a:p>
            </p:txBody>
          </p:sp>
        </p:grpSp>
        <p:grpSp>
          <p:nvGrpSpPr>
            <p:cNvPr name="Group 37" id="37"/>
            <p:cNvGrpSpPr/>
            <p:nvPr/>
          </p:nvGrpSpPr>
          <p:grpSpPr>
            <a:xfrm rot="0">
              <a:off x="0" y="616038"/>
              <a:ext cx="3397164" cy="640367"/>
              <a:chOff x="0" y="0"/>
              <a:chExt cx="1855560" cy="349774"/>
            </a:xfrm>
          </p:grpSpPr>
          <p:sp>
            <p:nvSpPr>
              <p:cNvPr name="Freeform 38" id="38"/>
              <p:cNvSpPr/>
              <p:nvPr/>
            </p:nvSpPr>
            <p:spPr>
              <a:xfrm flipH="false" flipV="false" rot="0">
                <a:off x="0" y="0"/>
                <a:ext cx="1855560" cy="349774"/>
              </a:xfrm>
              <a:custGeom>
                <a:avLst/>
                <a:gdLst/>
                <a:ahLst/>
                <a:cxnLst/>
                <a:rect r="r" b="b" t="t" l="l"/>
                <a:pathLst>
                  <a:path h="349774" w="1855560">
                    <a:moveTo>
                      <a:pt x="0" y="0"/>
                    </a:moveTo>
                    <a:lnTo>
                      <a:pt x="1855560" y="0"/>
                    </a:lnTo>
                    <a:lnTo>
                      <a:pt x="1855560" y="349774"/>
                    </a:lnTo>
                    <a:lnTo>
                      <a:pt x="0" y="349774"/>
                    </a:lnTo>
                    <a:close/>
                  </a:path>
                </a:pathLst>
              </a:custGeom>
              <a:solidFill>
                <a:srgbClr val="B1D1E1">
                  <a:alpha val="34902"/>
                </a:srgbClr>
              </a:solidFill>
            </p:spPr>
          </p:sp>
          <p:sp>
            <p:nvSpPr>
              <p:cNvPr name="TextBox 39" id="39"/>
              <p:cNvSpPr txBox="true"/>
              <p:nvPr/>
            </p:nvSpPr>
            <p:spPr>
              <a:xfrm>
                <a:off x="0" y="-66675"/>
                <a:ext cx="1855560" cy="416449"/>
              </a:xfrm>
              <a:prstGeom prst="rect">
                <a:avLst/>
              </a:prstGeom>
            </p:spPr>
            <p:txBody>
              <a:bodyPr anchor="ctr" rtlCol="false" tIns="50800" lIns="50800" bIns="50800" rIns="50800"/>
              <a:lstStyle/>
              <a:p>
                <a:pPr algn="ctr">
                  <a:lnSpc>
                    <a:spcPts val="3359"/>
                  </a:lnSpc>
                </a:pPr>
              </a:p>
            </p:txBody>
          </p:sp>
        </p:grpSp>
      </p:grpSp>
      <p:grpSp>
        <p:nvGrpSpPr>
          <p:cNvPr name="Group 40" id="40"/>
          <p:cNvGrpSpPr/>
          <p:nvPr/>
        </p:nvGrpSpPr>
        <p:grpSpPr>
          <a:xfrm rot="0">
            <a:off x="13124317" y="4386548"/>
            <a:ext cx="3086100" cy="458495"/>
            <a:chOff x="0" y="0"/>
            <a:chExt cx="812800" cy="120756"/>
          </a:xfrm>
        </p:grpSpPr>
        <p:sp>
          <p:nvSpPr>
            <p:cNvPr name="Freeform 41" id="41"/>
            <p:cNvSpPr/>
            <p:nvPr/>
          </p:nvSpPr>
          <p:spPr>
            <a:xfrm flipH="false" flipV="false" rot="0">
              <a:off x="0" y="0"/>
              <a:ext cx="812800" cy="120756"/>
            </a:xfrm>
            <a:custGeom>
              <a:avLst/>
              <a:gdLst/>
              <a:ahLst/>
              <a:cxnLst/>
              <a:rect r="r" b="b" t="t" l="l"/>
              <a:pathLst>
                <a:path h="120756" w="812800">
                  <a:moveTo>
                    <a:pt x="406400" y="0"/>
                  </a:moveTo>
                  <a:cubicBezTo>
                    <a:pt x="181951" y="0"/>
                    <a:pt x="0" y="27032"/>
                    <a:pt x="0" y="60378"/>
                  </a:cubicBezTo>
                  <a:cubicBezTo>
                    <a:pt x="0" y="93724"/>
                    <a:pt x="181951" y="120756"/>
                    <a:pt x="406400" y="120756"/>
                  </a:cubicBezTo>
                  <a:cubicBezTo>
                    <a:pt x="630849" y="120756"/>
                    <a:pt x="812800" y="93724"/>
                    <a:pt x="812800" y="60378"/>
                  </a:cubicBezTo>
                  <a:cubicBezTo>
                    <a:pt x="812800" y="27032"/>
                    <a:pt x="630849" y="0"/>
                    <a:pt x="406400" y="0"/>
                  </a:cubicBezTo>
                  <a:close/>
                </a:path>
              </a:pathLst>
            </a:custGeom>
            <a:solidFill>
              <a:srgbClr val="000000">
                <a:alpha val="0"/>
              </a:srgbClr>
            </a:solidFill>
            <a:ln w="38100" cap="sq">
              <a:solidFill>
                <a:srgbClr val="B1D1E1"/>
              </a:solidFill>
              <a:prstDash val="solid"/>
              <a:miter/>
            </a:ln>
          </p:spPr>
        </p:sp>
        <p:sp>
          <p:nvSpPr>
            <p:cNvPr name="TextBox 42" id="42"/>
            <p:cNvSpPr txBox="true"/>
            <p:nvPr/>
          </p:nvSpPr>
          <p:spPr>
            <a:xfrm>
              <a:off x="76200" y="-55354"/>
              <a:ext cx="660400" cy="164789"/>
            </a:xfrm>
            <a:prstGeom prst="rect">
              <a:avLst/>
            </a:prstGeom>
          </p:spPr>
          <p:txBody>
            <a:bodyPr anchor="ctr" rtlCol="false" tIns="50800" lIns="50800" bIns="50800" rIns="50800"/>
            <a:lstStyle/>
            <a:p>
              <a:pPr algn="ctr">
                <a:lnSpc>
                  <a:spcPts val="3359"/>
                </a:lnSpc>
              </a:pPr>
            </a:p>
          </p:txBody>
        </p:sp>
      </p:grpSp>
      <p:sp>
        <p:nvSpPr>
          <p:cNvPr name="TextBox 43" id="43"/>
          <p:cNvSpPr txBox="true"/>
          <p:nvPr/>
        </p:nvSpPr>
        <p:spPr>
          <a:xfrm rot="0">
            <a:off x="519951" y="1644978"/>
            <a:ext cx="9060663" cy="546067"/>
          </a:xfrm>
          <a:prstGeom prst="rect">
            <a:avLst/>
          </a:prstGeom>
        </p:spPr>
        <p:txBody>
          <a:bodyPr anchor="t" rtlCol="false" tIns="0" lIns="0" bIns="0" rIns="0">
            <a:spAutoFit/>
          </a:bodyPr>
          <a:lstStyle/>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Random Forest feature interpretation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5131" y="702637"/>
            <a:ext cx="16575478" cy="999491"/>
          </a:xfrm>
          <a:prstGeom prst="rect">
            <a:avLst/>
          </a:prstGeom>
        </p:spPr>
        <p:txBody>
          <a:bodyPr anchor="t" rtlCol="false" tIns="0" lIns="0" bIns="0" rIns="0">
            <a:spAutoFit/>
          </a:bodyPr>
          <a:lstStyle/>
          <a:p>
            <a:pPr algn="l">
              <a:lnSpc>
                <a:spcPts val="7280"/>
              </a:lnSpc>
            </a:pPr>
            <a:r>
              <a:rPr lang="en-US" sz="8000" spc="-200">
                <a:solidFill>
                  <a:srgbClr val="1D4355"/>
                </a:solidFill>
                <a:latin typeface="Poppins Bold"/>
                <a:ea typeface="Poppins Bold"/>
                <a:cs typeface="Poppins Bold"/>
                <a:sym typeface="Poppins Bold"/>
              </a:rPr>
              <a:t>Discussion &amp; Future Work</a:t>
            </a:r>
          </a:p>
        </p:txBody>
      </p:sp>
      <p:sp>
        <p:nvSpPr>
          <p:cNvPr name="AutoShape 3" id="3"/>
          <p:cNvSpPr/>
          <p:nvPr/>
        </p:nvSpPr>
        <p:spPr>
          <a:xfrm flipH="true">
            <a:off x="547841" y="2883103"/>
            <a:ext cx="47625" cy="7403590"/>
          </a:xfrm>
          <a:prstGeom prst="line">
            <a:avLst/>
          </a:prstGeom>
          <a:ln cap="flat" w="95250">
            <a:solidFill>
              <a:srgbClr val="365B6D"/>
            </a:solidFill>
            <a:prstDash val="solid"/>
            <a:headEnd type="triangle" len="med" w="lg"/>
            <a:tailEnd type="none" len="sm" w="sm"/>
          </a:ln>
        </p:spPr>
      </p:sp>
      <p:grpSp>
        <p:nvGrpSpPr>
          <p:cNvPr name="Group 4" id="4"/>
          <p:cNvGrpSpPr/>
          <p:nvPr/>
        </p:nvGrpSpPr>
        <p:grpSpPr>
          <a:xfrm rot="0">
            <a:off x="1028700" y="1607596"/>
            <a:ext cx="1275507" cy="127550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1E1">
                <a:alpha val="74902"/>
              </a:srgbClr>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209559" y="2033260"/>
            <a:ext cx="3989012" cy="452755"/>
          </a:xfrm>
          <a:prstGeom prst="rect">
            <a:avLst/>
          </a:prstGeom>
        </p:spPr>
        <p:txBody>
          <a:bodyPr anchor="t" rtlCol="false" tIns="0" lIns="0" bIns="0" rIns="0">
            <a:spAutoFit/>
          </a:bodyPr>
          <a:lstStyle/>
          <a:p>
            <a:pPr algn="l">
              <a:lnSpc>
                <a:spcPts val="3200"/>
              </a:lnSpc>
            </a:pPr>
            <a:r>
              <a:rPr lang="en-US" sz="3200" spc="80" b="true">
                <a:solidFill>
                  <a:srgbClr val="365B6D"/>
                </a:solidFill>
                <a:latin typeface="Poppins Medium"/>
                <a:ea typeface="Poppins Medium"/>
                <a:cs typeface="Poppins Medium"/>
                <a:sym typeface="Poppins Medium"/>
              </a:rPr>
              <a:t>Interpretability</a:t>
            </a:r>
          </a:p>
        </p:txBody>
      </p:sp>
      <p:sp>
        <p:nvSpPr>
          <p:cNvPr name="Freeform 8" id="8"/>
          <p:cNvSpPr/>
          <p:nvPr/>
        </p:nvSpPr>
        <p:spPr>
          <a:xfrm flipH="false" flipV="false" rot="0">
            <a:off x="14262150" y="7541638"/>
            <a:ext cx="3713596" cy="2970877"/>
          </a:xfrm>
          <a:custGeom>
            <a:avLst/>
            <a:gdLst/>
            <a:ahLst/>
            <a:cxnLst/>
            <a:rect r="r" b="b" t="t" l="l"/>
            <a:pathLst>
              <a:path h="2970877" w="3713596">
                <a:moveTo>
                  <a:pt x="0" y="0"/>
                </a:moveTo>
                <a:lnTo>
                  <a:pt x="3713596" y="0"/>
                </a:lnTo>
                <a:lnTo>
                  <a:pt x="3713596" y="2970877"/>
                </a:lnTo>
                <a:lnTo>
                  <a:pt x="0" y="29708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4396741" y="7050747"/>
            <a:ext cx="3451230" cy="858495"/>
          </a:xfrm>
          <a:prstGeom prst="rect">
            <a:avLst/>
          </a:prstGeom>
        </p:spPr>
        <p:txBody>
          <a:bodyPr anchor="t" rtlCol="false" tIns="0" lIns="0" bIns="0" rIns="0">
            <a:spAutoFit/>
          </a:bodyPr>
          <a:lstStyle/>
          <a:p>
            <a:pPr algn="ctr">
              <a:lnSpc>
                <a:spcPts val="2518"/>
              </a:lnSpc>
            </a:pPr>
            <a:r>
              <a:rPr lang="en-US" b="true" sz="1798" spc="44">
                <a:solidFill>
                  <a:srgbClr val="365B6D"/>
                </a:solidFill>
                <a:latin typeface="Poppins Semi-Bold"/>
                <a:ea typeface="Poppins Semi-Bold"/>
                <a:cs typeface="Poppins Semi-Bold"/>
                <a:sym typeface="Poppins Semi-Bold"/>
              </a:rPr>
              <a:t>Thank you for your attention!</a:t>
            </a:r>
          </a:p>
        </p:txBody>
      </p:sp>
      <p:sp>
        <p:nvSpPr>
          <p:cNvPr name="TextBox 10" id="10"/>
          <p:cNvSpPr txBox="true"/>
          <p:nvPr/>
        </p:nvSpPr>
        <p:spPr>
          <a:xfrm rot="0">
            <a:off x="1209559" y="2624224"/>
            <a:ext cx="16947046" cy="1689067"/>
          </a:xfrm>
          <a:prstGeom prst="rect">
            <a:avLst/>
          </a:prstGeom>
        </p:spPr>
        <p:txBody>
          <a:bodyPr anchor="t" rtlCol="false" tIns="0" lIns="0" bIns="0" rIns="0">
            <a:spAutoFit/>
          </a:bodyPr>
          <a:lstStyle/>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Top predictive features are cognitive scores(CDRSB, FAQ, MMSE, ADAS11)</a:t>
            </a:r>
          </a:p>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ASL perfusion features also ranked in top 20 - </a:t>
            </a:r>
            <a:r>
              <a:rPr lang="en-US" sz="3251" spc="81">
                <a:solidFill>
                  <a:srgbClr val="000000"/>
                </a:solidFill>
                <a:latin typeface="Poppins Light Bold"/>
                <a:ea typeface="Poppins Light Bold"/>
                <a:cs typeface="Poppins Light Bold"/>
                <a:sym typeface="Poppins Light Bold"/>
              </a:rPr>
              <a:t>CBF patterns in regions linked to memory and temporal processing carry predictive value</a:t>
            </a:r>
          </a:p>
        </p:txBody>
      </p:sp>
      <p:grpSp>
        <p:nvGrpSpPr>
          <p:cNvPr name="Group 11" id="11"/>
          <p:cNvGrpSpPr/>
          <p:nvPr/>
        </p:nvGrpSpPr>
        <p:grpSpPr>
          <a:xfrm rot="0">
            <a:off x="1028700" y="4503792"/>
            <a:ext cx="1275507" cy="12755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1E1">
                <a:alpha val="74902"/>
              </a:srgbClr>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209559" y="4929455"/>
            <a:ext cx="5263866" cy="452755"/>
          </a:xfrm>
          <a:prstGeom prst="rect">
            <a:avLst/>
          </a:prstGeom>
        </p:spPr>
        <p:txBody>
          <a:bodyPr anchor="t" rtlCol="false" tIns="0" lIns="0" bIns="0" rIns="0">
            <a:spAutoFit/>
          </a:bodyPr>
          <a:lstStyle/>
          <a:p>
            <a:pPr algn="l">
              <a:lnSpc>
                <a:spcPts val="3200"/>
              </a:lnSpc>
            </a:pPr>
            <a:r>
              <a:rPr lang="en-US" sz="3200" spc="80" b="true">
                <a:solidFill>
                  <a:srgbClr val="365B6D"/>
                </a:solidFill>
                <a:latin typeface="Poppins Medium"/>
                <a:ea typeface="Poppins Medium"/>
                <a:cs typeface="Poppins Medium"/>
                <a:sym typeface="Poppins Medium"/>
              </a:rPr>
              <a:t>Limitations &amp; Next steps</a:t>
            </a:r>
          </a:p>
        </p:txBody>
      </p:sp>
      <p:sp>
        <p:nvSpPr>
          <p:cNvPr name="TextBox 15" id="15"/>
          <p:cNvSpPr txBox="true"/>
          <p:nvPr/>
        </p:nvSpPr>
        <p:spPr>
          <a:xfrm rot="0">
            <a:off x="1227379" y="5511650"/>
            <a:ext cx="16748367" cy="1117567"/>
          </a:xfrm>
          <a:prstGeom prst="rect">
            <a:avLst/>
          </a:prstGeom>
        </p:spPr>
        <p:txBody>
          <a:bodyPr anchor="t" rtlCol="false" tIns="0" lIns="0" bIns="0" rIns="0">
            <a:spAutoFit/>
          </a:bodyPr>
          <a:lstStyle/>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Lower recall for AD class - increase representation of AD class in training</a:t>
            </a:r>
          </a:p>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No voxel-level information - use CBF maps in CNN</a:t>
            </a:r>
          </a:p>
        </p:txBody>
      </p:sp>
      <p:grpSp>
        <p:nvGrpSpPr>
          <p:cNvPr name="Group 16" id="16"/>
          <p:cNvGrpSpPr/>
          <p:nvPr/>
        </p:nvGrpSpPr>
        <p:grpSpPr>
          <a:xfrm rot="0">
            <a:off x="1028700" y="7144516"/>
            <a:ext cx="1275507" cy="127550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1D1E1">
                <a:alpha val="74902"/>
              </a:srgbClr>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209559" y="7570180"/>
            <a:ext cx="5263866" cy="452755"/>
          </a:xfrm>
          <a:prstGeom prst="rect">
            <a:avLst/>
          </a:prstGeom>
        </p:spPr>
        <p:txBody>
          <a:bodyPr anchor="t" rtlCol="false" tIns="0" lIns="0" bIns="0" rIns="0">
            <a:spAutoFit/>
          </a:bodyPr>
          <a:lstStyle/>
          <a:p>
            <a:pPr algn="l">
              <a:lnSpc>
                <a:spcPts val="3200"/>
              </a:lnSpc>
            </a:pPr>
            <a:r>
              <a:rPr lang="en-US" sz="3200" spc="80" b="true">
                <a:solidFill>
                  <a:srgbClr val="365B6D"/>
                </a:solidFill>
                <a:latin typeface="Poppins Medium"/>
                <a:ea typeface="Poppins Medium"/>
                <a:cs typeface="Poppins Medium"/>
                <a:sym typeface="Poppins Medium"/>
              </a:rPr>
              <a:t>Applications</a:t>
            </a:r>
          </a:p>
        </p:txBody>
      </p:sp>
      <p:sp>
        <p:nvSpPr>
          <p:cNvPr name="TextBox 20" id="20"/>
          <p:cNvSpPr txBox="true"/>
          <p:nvPr/>
        </p:nvSpPr>
        <p:spPr>
          <a:xfrm rot="0">
            <a:off x="1227379" y="8099441"/>
            <a:ext cx="13867528" cy="2260567"/>
          </a:xfrm>
          <a:prstGeom prst="rect">
            <a:avLst/>
          </a:prstGeom>
        </p:spPr>
        <p:txBody>
          <a:bodyPr anchor="t" rtlCol="false" tIns="0" lIns="0" bIns="0" rIns="0">
            <a:spAutoFit/>
          </a:bodyPr>
          <a:lstStyle/>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Identify regional perfusion patterns </a:t>
            </a:r>
          </a:p>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Assist in triaging patients for further imaging/evaluation</a:t>
            </a:r>
          </a:p>
          <a:p>
            <a:pPr algn="l" marL="701951" indent="-350976" lvl="1">
              <a:lnSpc>
                <a:spcPts val="4551"/>
              </a:lnSpc>
              <a:buFont typeface="Arial"/>
              <a:buChar char="•"/>
            </a:pPr>
            <a:r>
              <a:rPr lang="en-US" sz="3251" spc="81">
                <a:solidFill>
                  <a:srgbClr val="000000"/>
                </a:solidFill>
                <a:latin typeface="Poppins Light"/>
                <a:ea typeface="Poppins Light"/>
                <a:cs typeface="Poppins Light"/>
                <a:sym typeface="Poppins Light"/>
              </a:rPr>
              <a:t>Interpretable model – more confidence in clinical decision support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DAGlR8BvcV0</dc:identifier>
  <dcterms:modified xsi:type="dcterms:W3CDTF">2011-08-01T06:04:30Z</dcterms:modified>
  <cp:revision>1</cp:revision>
  <dc:title>Classification of Alzheimer's Using CBF</dc:title>
</cp:coreProperties>
</file>