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embeddedFontLst>
    <p:embeddedFont>
      <p:font typeface="Roboto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D4563B-F474-4963-B300-0E38DE95C471}">
  <a:tblStyle styleId="{D8D4563B-F474-4963-B300-0E38DE95C4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3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Roboto-regular.fntdata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font" Target="fonts/Roboto-italic.fntdata"/><Relationship Id="rId14" Type="http://schemas.openxmlformats.org/officeDocument/2006/relationships/slide" Target="slides/slide7.xml"/><Relationship Id="rId36" Type="http://schemas.openxmlformats.org/officeDocument/2006/relationships/font" Target="fonts/Roboto-bold.fntdata"/><Relationship Id="rId17" Type="http://schemas.openxmlformats.org/officeDocument/2006/relationships/slide" Target="slides/slide10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9.xml"/><Relationship Id="rId38" Type="http://schemas.openxmlformats.org/officeDocument/2006/relationships/font" Target="fonts/Roboto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d9bf55420_0_286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1d9bf55420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1d9bf55420_0_2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f56d7a989_0_0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1f56d7a9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1f56d7a989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eb75c5cf7_1_0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1eb75c5c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1eb75c5cf7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070faaaff_0_6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2070faaa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2070faaaff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2070faaaff_0_611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2070faaaff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2070faaaff_0_6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070faaaff_0_523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2070faaaff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2070faaaff_0_5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070faaaff_0_583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2070faaaff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2070faaaff_0_5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070faaaff_0_618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2070faaaff_0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2070faaaff_0_6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200eb11f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200eb11f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2086694b83_1_6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2086694b8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2086694b83_1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2086694b83_1_23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2086694b8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2086694b83_1_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2086694b83_1_35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2086694b8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2086694b83_1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2086694b83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2086694b83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086694b83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2086694b83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Enrollment, days since start, and locations count drive the model's predictive power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091635a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2091635a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070faaaff_0_624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2070faaaff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2070faaaff_0_6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2086694b83_0_10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2086694b8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Limitations: there were over 66,000 locations so could not map all of them</a:t>
            </a:r>
            <a:endParaRPr/>
          </a:p>
        </p:txBody>
      </p:sp>
      <p:sp>
        <p:nvSpPr>
          <p:cNvPr id="301" name="Google Shape;301;g32086694b83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2086694b8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2086694b8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2086694b83_0_17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2086694b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2086694b83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086694b8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2086694b8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20afbf366b_6_10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20afbf366b_6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20afbf366b_6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1eb75c5c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1eb75c5c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086694b83_1_45:notes"/>
          <p:cNvSpPr/>
          <p:nvPr>
            <p:ph idx="2" type="sldImg"/>
          </p:nvPr>
        </p:nvSpPr>
        <p:spPr>
          <a:xfrm>
            <a:off x="381794" y="685800"/>
            <a:ext cx="6094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2086694b8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2086694b83_1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200eb11f9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200eb11f9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20c4c4440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20c4c4440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070faaaff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2070faaaff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200eb11f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200eb11f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427894" y="397575"/>
            <a:ext cx="52677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Helvetica Neue"/>
              <a:buNone/>
              <a:defRPr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427894" y="1859523"/>
            <a:ext cx="52677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b="1" i="0" sz="23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427894" y="4593486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500"/>
              <a:buFont typeface="Helvetica Neue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213473" y="1004150"/>
            <a:ext cx="8686500" cy="3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722313" y="3305177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3000"/>
              <a:buFont typeface="Helvetica Neue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7" name="Google Shape;87;p21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8" name="Google Shape;88;p21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457200" y="1151335"/>
            <a:ext cx="4040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4" name="Google Shape;94;p22"/>
          <p:cNvSpPr txBox="1"/>
          <p:nvPr>
            <p:ph idx="2" type="body"/>
          </p:nvPr>
        </p:nvSpPr>
        <p:spPr>
          <a:xfrm>
            <a:off x="457200" y="1631156"/>
            <a:ext cx="40404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5" name="Google Shape;95;p22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22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3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3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/>
          <p:nvPr>
            <p:ph type="title"/>
          </p:nvPr>
        </p:nvSpPr>
        <p:spPr>
          <a:xfrm>
            <a:off x="457201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500"/>
              <a:buFont typeface="Helvetica Neue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" type="body"/>
          </p:nvPr>
        </p:nvSpPr>
        <p:spPr>
          <a:xfrm>
            <a:off x="3575050" y="204790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4"/>
          <p:cNvSpPr txBox="1"/>
          <p:nvPr>
            <p:ph idx="2" type="body"/>
          </p:nvPr>
        </p:nvSpPr>
        <p:spPr>
          <a:xfrm>
            <a:off x="457201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9" name="Google Shape;109;p24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4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" type="body"/>
          </p:nvPr>
        </p:nvSpPr>
        <p:spPr>
          <a:xfrm rot="5400000">
            <a:off x="2958098" y="-1740550"/>
            <a:ext cx="3197100" cy="86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5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5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 rot="5400000">
            <a:off x="5463750" y="1371631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" type="body"/>
          </p:nvPr>
        </p:nvSpPr>
        <p:spPr>
          <a:xfrm rot="5400000">
            <a:off x="1272750" y="-609569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6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-1" y="4537007"/>
            <a:ext cx="9157800" cy="606600"/>
          </a:xfrm>
          <a:prstGeom prst="rect">
            <a:avLst/>
          </a:prstGeom>
          <a:solidFill>
            <a:srgbClr val="041E42"/>
          </a:solidFill>
          <a:ln cap="flat" cmpd="sng" w="9525">
            <a:solidFill>
              <a:srgbClr val="0038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  <a:defRPr b="1" i="0" sz="2700" u="none" cap="none" strike="noStrike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13473" y="1004150"/>
            <a:ext cx="8686500" cy="3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427894" y="4553143"/>
            <a:ext cx="39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598628" y="4778443"/>
            <a:ext cx="2300671" cy="16786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-1" y="4467484"/>
            <a:ext cx="9144000" cy="69600"/>
          </a:xfrm>
          <a:prstGeom prst="rect">
            <a:avLst/>
          </a:prstGeom>
          <a:solidFill>
            <a:srgbClr val="BBBCB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homvee.acf.hhs.gov/sites/default/files/2019-08/HomVEE_brief_2014-49.pdf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/>
          <p:nvPr/>
        </p:nvSpPr>
        <p:spPr>
          <a:xfrm>
            <a:off x="-1" y="1086634"/>
            <a:ext cx="9144000" cy="4056900"/>
          </a:xfrm>
          <a:prstGeom prst="rect">
            <a:avLst/>
          </a:prstGeom>
          <a:solidFill>
            <a:srgbClr val="041E42"/>
          </a:solidFill>
          <a:ln cap="flat" cmpd="sng" w="9525">
            <a:solidFill>
              <a:srgbClr val="00387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7"/>
          <p:cNvSpPr/>
          <p:nvPr/>
        </p:nvSpPr>
        <p:spPr>
          <a:xfrm>
            <a:off x="-1" y="1022081"/>
            <a:ext cx="9144000" cy="69600"/>
          </a:xfrm>
          <a:prstGeom prst="rect">
            <a:avLst/>
          </a:prstGeom>
          <a:solidFill>
            <a:srgbClr val="63666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873075" y="1838875"/>
            <a:ext cx="62943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b="1" lang="en" sz="4100">
                <a:solidFill>
                  <a:srgbClr val="BBBCB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Predicti</a:t>
            </a:r>
            <a:r>
              <a:rPr b="1" lang="en" sz="4100">
                <a:solidFill>
                  <a:srgbClr val="BBBCB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ng</a:t>
            </a:r>
            <a:r>
              <a:rPr b="1" lang="en" sz="4100">
                <a:solidFill>
                  <a:srgbClr val="BBBCB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Patients’ Attrition in Clinical Trials</a:t>
            </a:r>
            <a:endParaRPr sz="1100"/>
          </a:p>
        </p:txBody>
      </p:sp>
      <p:sp>
        <p:nvSpPr>
          <p:cNvPr id="132" name="Google Shape;132;p27"/>
          <p:cNvSpPr txBox="1"/>
          <p:nvPr/>
        </p:nvSpPr>
        <p:spPr>
          <a:xfrm>
            <a:off x="873075" y="3137250"/>
            <a:ext cx="71391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3a: </a:t>
            </a:r>
            <a:r>
              <a:rPr lang="en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Stephanie Araki, Pari Shah, Samantha Zocher</a:t>
            </a:r>
            <a:endParaRPr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3" name="Google Shape;1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7592" y="473798"/>
            <a:ext cx="3146227" cy="22955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7"/>
          <p:cNvSpPr txBox="1"/>
          <p:nvPr/>
        </p:nvSpPr>
        <p:spPr>
          <a:xfrm>
            <a:off x="873074" y="3483387"/>
            <a:ext cx="40494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HIDS-6001 Fall 2024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/>
        </p:nvSpPr>
        <p:spPr>
          <a:xfrm>
            <a:off x="338796" y="839108"/>
            <a:ext cx="40359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Clinical trials are necessary to develop new </a:t>
            </a:r>
            <a:r>
              <a:rPr lang="en" sz="1800">
                <a:solidFill>
                  <a:schemeClr val="dk1"/>
                </a:solidFill>
              </a:rPr>
              <a:t>therapeutic</a:t>
            </a:r>
            <a:r>
              <a:rPr lang="en" sz="1800">
                <a:solidFill>
                  <a:schemeClr val="dk1"/>
                </a:solidFill>
              </a:rPr>
              <a:t> methods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</a:rPr>
              <a:t>Attrition rate</a:t>
            </a:r>
            <a:r>
              <a:rPr lang="en" sz="1800">
                <a:solidFill>
                  <a:schemeClr val="dk1"/>
                </a:solidFill>
              </a:rPr>
              <a:t>: % of patients that drop out of a clinical trial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High attrition rates can introduce bias even in randomized </a:t>
            </a:r>
            <a:r>
              <a:rPr lang="en" sz="1800">
                <a:solidFill>
                  <a:schemeClr val="dk1"/>
                </a:solidFill>
              </a:rPr>
              <a:t>trials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Understanding what influences attrition rates can </a:t>
            </a:r>
            <a:r>
              <a:rPr lang="en" sz="1800">
                <a:solidFill>
                  <a:schemeClr val="dk1"/>
                </a:solidFill>
              </a:rPr>
              <a:t>inform</a:t>
            </a:r>
            <a:r>
              <a:rPr lang="en" sz="1800">
                <a:solidFill>
                  <a:schemeClr val="dk1"/>
                </a:solidFill>
              </a:rPr>
              <a:t> future trials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</a:t>
            </a:r>
            <a:endParaRPr sz="1100"/>
          </a:p>
        </p:txBody>
      </p:sp>
      <p:sp>
        <p:nvSpPr>
          <p:cNvPr id="142" name="Google Shape;142;p28"/>
          <p:cNvSpPr txBox="1"/>
          <p:nvPr/>
        </p:nvSpPr>
        <p:spPr>
          <a:xfrm>
            <a:off x="5548925" y="3604125"/>
            <a:ext cx="31221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Reference: </a:t>
            </a:r>
            <a:r>
              <a:rPr lang="en" sz="11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What Isn't There Matters: Attrition and Randomized Controlled Trials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100"/>
          </a:p>
        </p:txBody>
      </p:sp>
      <p:pic>
        <p:nvPicPr>
          <p:cNvPr id="143" name="Google Shape;1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2275" y="470050"/>
            <a:ext cx="3438758" cy="3059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9"/>
          <p:cNvSpPr txBox="1"/>
          <p:nvPr>
            <p:ph type="ctrTitle"/>
          </p:nvPr>
        </p:nvSpPr>
        <p:spPr>
          <a:xfrm>
            <a:off x="626685" y="646072"/>
            <a:ext cx="47145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4100">
                <a:solidFill>
                  <a:srgbClr val="BBBCBC"/>
                </a:solidFill>
              </a:rPr>
              <a:t>Primary Aims</a:t>
            </a:r>
            <a:endParaRPr/>
          </a:p>
        </p:txBody>
      </p:sp>
      <p:sp>
        <p:nvSpPr>
          <p:cNvPr id="151" name="Google Shape;151;p29"/>
          <p:cNvSpPr txBox="1"/>
          <p:nvPr>
            <p:ph idx="1" type="subTitle"/>
          </p:nvPr>
        </p:nvSpPr>
        <p:spPr>
          <a:xfrm>
            <a:off x="626675" y="1551400"/>
            <a:ext cx="7416300" cy="20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/>
              <a:t>Develop a machine learning model to predict low or high attrition rate for a clinical trial.</a:t>
            </a:r>
            <a:br>
              <a:rPr lang="en"/>
            </a:br>
            <a:endParaRPr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en"/>
              <a:t>Create a heat map of clinical trial facilities based on actual attrition rate.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Workflow</a:t>
            </a:r>
            <a:endParaRPr sz="1100"/>
          </a:p>
        </p:txBody>
      </p:sp>
      <p:grpSp>
        <p:nvGrpSpPr>
          <p:cNvPr id="158" name="Google Shape;158;p30"/>
          <p:cNvGrpSpPr/>
          <p:nvPr/>
        </p:nvGrpSpPr>
        <p:grpSpPr>
          <a:xfrm>
            <a:off x="985738" y="754625"/>
            <a:ext cx="7172525" cy="3426500"/>
            <a:chOff x="684900" y="770125"/>
            <a:chExt cx="7172525" cy="3426500"/>
          </a:xfrm>
        </p:grpSpPr>
        <p:sp>
          <p:nvSpPr>
            <p:cNvPr id="159" name="Google Shape;159;p30"/>
            <p:cNvSpPr/>
            <p:nvPr/>
          </p:nvSpPr>
          <p:spPr>
            <a:xfrm>
              <a:off x="5926625" y="2516125"/>
              <a:ext cx="1588800" cy="16383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30"/>
            <p:cNvSpPr/>
            <p:nvPr/>
          </p:nvSpPr>
          <p:spPr>
            <a:xfrm>
              <a:off x="4175275" y="2516125"/>
              <a:ext cx="1588800" cy="164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0"/>
            <p:cNvSpPr/>
            <p:nvPr/>
          </p:nvSpPr>
          <p:spPr>
            <a:xfrm>
              <a:off x="5926675" y="825050"/>
              <a:ext cx="1588800" cy="164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0"/>
            <p:cNvSpPr/>
            <p:nvPr/>
          </p:nvSpPr>
          <p:spPr>
            <a:xfrm>
              <a:off x="4175288" y="825050"/>
              <a:ext cx="1588800" cy="1648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30"/>
            <p:cNvSpPr/>
            <p:nvPr/>
          </p:nvSpPr>
          <p:spPr>
            <a:xfrm>
              <a:off x="2423925" y="809925"/>
              <a:ext cx="1588800" cy="33867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0"/>
            <p:cNvSpPr/>
            <p:nvPr/>
          </p:nvSpPr>
          <p:spPr>
            <a:xfrm>
              <a:off x="684900" y="809925"/>
              <a:ext cx="1588800" cy="33867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30"/>
            <p:cNvSpPr/>
            <p:nvPr/>
          </p:nvSpPr>
          <p:spPr>
            <a:xfrm>
              <a:off x="4225350" y="1248200"/>
              <a:ext cx="3247500" cy="1090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317A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2506275" y="2061925"/>
              <a:ext cx="1424100" cy="1090200"/>
            </a:xfrm>
            <a:prstGeom prst="roundRect">
              <a:avLst>
                <a:gd fmla="val 16667" name="adj"/>
              </a:avLst>
            </a:prstGeom>
            <a:solidFill>
              <a:srgbClr val="0D5CDF"/>
            </a:solidFill>
            <a:ln cap="flat" cmpd="sng" w="9525">
              <a:solidFill>
                <a:srgbClr val="0D5C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Clinical Trial Dataset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i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</a:t>
              </a:r>
              <a:r>
                <a:rPr i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= 1325)</a:t>
              </a:r>
              <a:endParaRPr i="1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NCT ID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Features </a:t>
              </a:r>
              <a:r>
                <a:rPr i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(un-encoded)</a:t>
              </a:r>
              <a:endParaRPr i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Attrition Rate</a:t>
              </a:r>
              <a:endParaRPr i="1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67;p30"/>
            <p:cNvSpPr/>
            <p:nvPr/>
          </p:nvSpPr>
          <p:spPr>
            <a:xfrm>
              <a:off x="4366950" y="1352125"/>
              <a:ext cx="11808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Encoded Features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i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 = 1325)</a:t>
              </a:r>
              <a:endParaRPr i="1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" name="Google Shape;168;p30"/>
            <p:cNvSpPr txBox="1"/>
            <p:nvPr/>
          </p:nvSpPr>
          <p:spPr>
            <a:xfrm>
              <a:off x="747300" y="770125"/>
              <a:ext cx="14640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Data Extraction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" name="Google Shape;169;p30"/>
            <p:cNvSpPr/>
            <p:nvPr/>
          </p:nvSpPr>
          <p:spPr>
            <a:xfrm>
              <a:off x="888900" y="1413175"/>
              <a:ext cx="1180800" cy="706200"/>
            </a:xfrm>
            <a:prstGeom prst="roundRect">
              <a:avLst>
                <a:gd fmla="val 16667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Attrition Dataset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NCT ID</a:t>
              </a:r>
              <a:b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Attrition Rate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888900" y="2253925"/>
              <a:ext cx="1180800" cy="706200"/>
            </a:xfrm>
            <a:prstGeom prst="roundRect">
              <a:avLst>
                <a:gd fmla="val 16667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ClinicalTrial.gov API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Feature Data</a:t>
              </a:r>
              <a:endParaRPr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888900" y="3094675"/>
              <a:ext cx="1180800" cy="706200"/>
            </a:xfrm>
            <a:prstGeom prst="roundRect">
              <a:avLst>
                <a:gd fmla="val 16667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RUCA </a:t>
              </a: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Dataset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Geo Categories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30"/>
            <p:cNvSpPr txBox="1"/>
            <p:nvPr/>
          </p:nvSpPr>
          <p:spPr>
            <a:xfrm>
              <a:off x="2525400" y="770125"/>
              <a:ext cx="14640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Data Integration &amp; Pre-processing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" name="Google Shape;173;p30"/>
            <p:cNvSpPr txBox="1"/>
            <p:nvPr/>
          </p:nvSpPr>
          <p:spPr>
            <a:xfrm>
              <a:off x="4267200" y="770125"/>
              <a:ext cx="14640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Feature Engineering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" name="Google Shape;174;p30"/>
            <p:cNvSpPr txBox="1"/>
            <p:nvPr/>
          </p:nvSpPr>
          <p:spPr>
            <a:xfrm>
              <a:off x="5985675" y="785250"/>
              <a:ext cx="1464000" cy="26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Model Training &amp; 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75;p30"/>
            <p:cNvSpPr txBox="1"/>
            <p:nvPr/>
          </p:nvSpPr>
          <p:spPr>
            <a:xfrm>
              <a:off x="4249175" y="2429263"/>
              <a:ext cx="14640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Geocoding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>
              <a:off x="6150600" y="1352125"/>
              <a:ext cx="11808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Training 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80%)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7" name="Google Shape;177;p30"/>
            <p:cNvSpPr txBox="1"/>
            <p:nvPr/>
          </p:nvSpPr>
          <p:spPr>
            <a:xfrm>
              <a:off x="5949625" y="2429263"/>
              <a:ext cx="14640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Attrition Mapping</a:t>
              </a:r>
              <a:endParaRPr b="1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30"/>
            <p:cNvSpPr txBox="1"/>
            <p:nvPr/>
          </p:nvSpPr>
          <p:spPr>
            <a:xfrm rot="5400000">
              <a:off x="7325525" y="1489388"/>
              <a:ext cx="7440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279ED"/>
                  </a:solidFill>
                  <a:latin typeface="Roboto"/>
                  <a:ea typeface="Roboto"/>
                  <a:cs typeface="Roboto"/>
                  <a:sym typeface="Roboto"/>
                </a:rPr>
                <a:t>Aim 1</a:t>
              </a:r>
              <a:endParaRPr b="1" sz="1100">
                <a:solidFill>
                  <a:srgbClr val="3279E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30"/>
            <p:cNvSpPr txBox="1"/>
            <p:nvPr/>
          </p:nvSpPr>
          <p:spPr>
            <a:xfrm rot="5400000">
              <a:off x="7325525" y="3287863"/>
              <a:ext cx="7440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3279ED"/>
                  </a:solidFill>
                  <a:latin typeface="Roboto"/>
                  <a:ea typeface="Roboto"/>
                  <a:cs typeface="Roboto"/>
                  <a:sym typeface="Roboto"/>
                </a:rPr>
                <a:t>Aim 2</a:t>
              </a:r>
              <a:endParaRPr b="1" sz="1100">
                <a:solidFill>
                  <a:srgbClr val="3279E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4379300" y="1934113"/>
              <a:ext cx="11808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Encoded Outcome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i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i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n = 1325)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81" name="Google Shape;181;p30"/>
            <p:cNvCxnSpPr>
              <a:stCxn id="170" idx="3"/>
              <a:endCxn id="166" idx="1"/>
            </p:cNvCxnSpPr>
            <p:nvPr/>
          </p:nvCxnSpPr>
          <p:spPr>
            <a:xfrm>
              <a:off x="2069700" y="2607025"/>
              <a:ext cx="436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30"/>
            <p:cNvCxnSpPr>
              <a:stCxn id="171" idx="3"/>
              <a:endCxn id="169" idx="3"/>
            </p:cNvCxnSpPr>
            <p:nvPr/>
          </p:nvCxnSpPr>
          <p:spPr>
            <a:xfrm flipH="1" rot="10800000">
              <a:off x="2069700" y="1766275"/>
              <a:ext cx="600" cy="1681500"/>
            </a:xfrm>
            <a:prstGeom prst="bentConnector3">
              <a:avLst>
                <a:gd fmla="val 19629167" name="adj1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30"/>
            <p:cNvCxnSpPr>
              <a:stCxn id="180" idx="1"/>
              <a:endCxn id="167" idx="1"/>
            </p:cNvCxnSpPr>
            <p:nvPr/>
          </p:nvCxnSpPr>
          <p:spPr>
            <a:xfrm rot="10800000">
              <a:off x="4367000" y="1512013"/>
              <a:ext cx="12300" cy="582000"/>
            </a:xfrm>
            <a:prstGeom prst="bentConnector3">
              <a:avLst>
                <a:gd fmla="val 657317" name="adj1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30"/>
            <p:cNvCxnSpPr>
              <a:stCxn id="167" idx="3"/>
              <a:endCxn id="180" idx="3"/>
            </p:cNvCxnSpPr>
            <p:nvPr/>
          </p:nvCxnSpPr>
          <p:spPr>
            <a:xfrm>
              <a:off x="5547750" y="1512025"/>
              <a:ext cx="12300" cy="582000"/>
            </a:xfrm>
            <a:prstGeom prst="bentConnector3">
              <a:avLst>
                <a:gd fmla="val 813618" name="adj1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85" name="Google Shape;185;p30"/>
            <p:cNvGrpSpPr/>
            <p:nvPr/>
          </p:nvGrpSpPr>
          <p:grpSpPr>
            <a:xfrm>
              <a:off x="3930375" y="1793300"/>
              <a:ext cx="369975" cy="813725"/>
              <a:chOff x="3930375" y="1793300"/>
              <a:chExt cx="369975" cy="813725"/>
            </a:xfrm>
          </p:grpSpPr>
          <p:cxnSp>
            <p:nvCxnSpPr>
              <p:cNvPr id="186" name="Google Shape;186;p30"/>
              <p:cNvCxnSpPr>
                <a:stCxn id="166" idx="3"/>
                <a:endCxn id="165" idx="1"/>
              </p:cNvCxnSpPr>
              <p:nvPr/>
            </p:nvCxnSpPr>
            <p:spPr>
              <a:xfrm flipH="1" rot="10800000">
                <a:off x="3930375" y="1793425"/>
                <a:ext cx="294900" cy="813600"/>
              </a:xfrm>
              <a:prstGeom prst="bentConnector3">
                <a:avLst>
                  <a:gd fmla="val 50013" name="adj1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7" name="Google Shape;187;p30"/>
              <p:cNvCxnSpPr>
                <a:stCxn id="165" idx="1"/>
              </p:cNvCxnSpPr>
              <p:nvPr/>
            </p:nvCxnSpPr>
            <p:spPr>
              <a:xfrm>
                <a:off x="4225350" y="1793300"/>
                <a:ext cx="7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188" name="Google Shape;188;p30"/>
            <p:cNvCxnSpPr/>
            <p:nvPr/>
          </p:nvCxnSpPr>
          <p:spPr>
            <a:xfrm flipH="1">
              <a:off x="5654050" y="1774550"/>
              <a:ext cx="371400" cy="210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" name="Google Shape;189;p30"/>
            <p:cNvSpPr/>
            <p:nvPr/>
          </p:nvSpPr>
          <p:spPr>
            <a:xfrm>
              <a:off x="6130675" y="1912500"/>
              <a:ext cx="11808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Evaluation</a:t>
              </a: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0%)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0" name="Google Shape;190;p30"/>
            <p:cNvCxnSpPr>
              <a:stCxn id="176" idx="1"/>
              <a:endCxn id="189" idx="1"/>
            </p:cNvCxnSpPr>
            <p:nvPr/>
          </p:nvCxnSpPr>
          <p:spPr>
            <a:xfrm flipH="1">
              <a:off x="6130800" y="1512025"/>
              <a:ext cx="19800" cy="560400"/>
            </a:xfrm>
            <a:prstGeom prst="bentConnector3">
              <a:avLst>
                <a:gd fmla="val 634470" name="adj1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" name="Google Shape;191;p30"/>
            <p:cNvSpPr/>
            <p:nvPr/>
          </p:nvSpPr>
          <p:spPr>
            <a:xfrm>
              <a:off x="6650600" y="1707725"/>
              <a:ext cx="117900" cy="1662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31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0"/>
            <p:cNvSpPr/>
            <p:nvPr/>
          </p:nvSpPr>
          <p:spPr>
            <a:xfrm>
              <a:off x="4220963" y="2857175"/>
              <a:ext cx="3247500" cy="1090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rgbClr val="317AF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4354625" y="2961100"/>
              <a:ext cx="13269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 Attrition Dataset</a:t>
              </a:r>
              <a:endParaRPr b="1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i="1"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n = 495)</a:t>
              </a:r>
              <a:endParaRPr i="1"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6146213" y="2961100"/>
              <a:ext cx="11808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Low Attrition Map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5" name="Google Shape;195;p30"/>
            <p:cNvSpPr/>
            <p:nvPr/>
          </p:nvSpPr>
          <p:spPr>
            <a:xfrm>
              <a:off x="4354626" y="3542775"/>
              <a:ext cx="13269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High Attrition Dataset</a:t>
              </a:r>
              <a:endParaRPr b="1" sz="8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(</a:t>
              </a:r>
              <a:r>
                <a:rPr i="1" lang="en" sz="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n = 285)</a:t>
              </a:r>
              <a:endParaRPr b="1" sz="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96" name="Google Shape;196;p30"/>
            <p:cNvCxnSpPr>
              <a:stCxn id="195" idx="1"/>
              <a:endCxn id="193" idx="1"/>
            </p:cNvCxnSpPr>
            <p:nvPr/>
          </p:nvCxnSpPr>
          <p:spPr>
            <a:xfrm flipH="1" rot="10800000">
              <a:off x="4354626" y="3120975"/>
              <a:ext cx="600" cy="581700"/>
            </a:xfrm>
            <a:prstGeom prst="bentConnector3">
              <a:avLst>
                <a:gd fmla="val -11941904" name="adj1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30"/>
            <p:cNvCxnSpPr>
              <a:stCxn id="193" idx="3"/>
              <a:endCxn id="195" idx="3"/>
            </p:cNvCxnSpPr>
            <p:nvPr/>
          </p:nvCxnSpPr>
          <p:spPr>
            <a:xfrm>
              <a:off x="5681525" y="3121000"/>
              <a:ext cx="600" cy="581700"/>
            </a:xfrm>
            <a:prstGeom prst="bentConnector3">
              <a:avLst>
                <a:gd fmla="val 8316675" name="adj1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 rot="10800000">
              <a:off x="5734563" y="3383525"/>
              <a:ext cx="286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9" name="Google Shape;199;p30"/>
            <p:cNvSpPr/>
            <p:nvPr/>
          </p:nvSpPr>
          <p:spPr>
            <a:xfrm>
              <a:off x="6126288" y="3521475"/>
              <a:ext cx="1180800" cy="319800"/>
            </a:xfrm>
            <a:prstGeom prst="roundRect">
              <a:avLst>
                <a:gd fmla="val 16667" name="adj"/>
              </a:avLst>
            </a:prstGeom>
            <a:solidFill>
              <a:srgbClr val="307AF3"/>
            </a:solidFill>
            <a:ln cap="flat" cmpd="sng" w="9525">
              <a:solidFill>
                <a:srgbClr val="307A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High Attrition Map</a:t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00" name="Google Shape;200;p30"/>
            <p:cNvCxnSpPr>
              <a:stCxn id="194" idx="1"/>
              <a:endCxn id="199" idx="1"/>
            </p:cNvCxnSpPr>
            <p:nvPr/>
          </p:nvCxnSpPr>
          <p:spPr>
            <a:xfrm flipH="1">
              <a:off x="6126413" y="3121000"/>
              <a:ext cx="19800" cy="560400"/>
            </a:xfrm>
            <a:prstGeom prst="bentConnector3">
              <a:avLst>
                <a:gd fmla="val 620139" name="adj1"/>
              </a:avLst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30"/>
            <p:cNvCxnSpPr>
              <a:stCxn id="192" idx="1"/>
            </p:cNvCxnSpPr>
            <p:nvPr/>
          </p:nvCxnSpPr>
          <p:spPr>
            <a:xfrm>
              <a:off x="4220963" y="3402275"/>
              <a:ext cx="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02" name="Google Shape;202;p30"/>
            <p:cNvGrpSpPr/>
            <p:nvPr/>
          </p:nvGrpSpPr>
          <p:grpSpPr>
            <a:xfrm>
              <a:off x="3930375" y="2607025"/>
              <a:ext cx="352388" cy="795300"/>
              <a:chOff x="3930375" y="2607025"/>
              <a:chExt cx="352388" cy="795300"/>
            </a:xfrm>
          </p:grpSpPr>
          <p:cxnSp>
            <p:nvCxnSpPr>
              <p:cNvPr id="203" name="Google Shape;203;p30"/>
              <p:cNvCxnSpPr>
                <a:stCxn id="166" idx="3"/>
                <a:endCxn id="192" idx="1"/>
              </p:cNvCxnSpPr>
              <p:nvPr/>
            </p:nvCxnSpPr>
            <p:spPr>
              <a:xfrm>
                <a:off x="3930375" y="2607025"/>
                <a:ext cx="290700" cy="795300"/>
              </a:xfrm>
              <a:prstGeom prst="bentConnector3">
                <a:avLst>
                  <a:gd fmla="val 49981" name="adj1"/>
                </a:avLst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4" name="Google Shape;204;p30"/>
              <p:cNvCxnSpPr>
                <a:stCxn id="192" idx="1"/>
              </p:cNvCxnSpPr>
              <p:nvPr/>
            </p:nvCxnSpPr>
            <p:spPr>
              <a:xfrm>
                <a:off x="4220963" y="3402275"/>
                <a:ext cx="61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/>
          <p:nvPr>
            <p:ph type="ctrTitle"/>
          </p:nvPr>
        </p:nvSpPr>
        <p:spPr>
          <a:xfrm>
            <a:off x="502950" y="1936500"/>
            <a:ext cx="81459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4100">
                <a:solidFill>
                  <a:srgbClr val="BBBCBC"/>
                </a:solidFill>
              </a:rPr>
              <a:t>Data Extraction, Integration &amp; Pre-Processing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Clinical Trials Dataset</a:t>
            </a:r>
            <a:endParaRPr sz="1100"/>
          </a:p>
        </p:txBody>
      </p:sp>
      <p:sp>
        <p:nvSpPr>
          <p:cNvPr id="218" name="Google Shape;218;p32"/>
          <p:cNvSpPr txBox="1"/>
          <p:nvPr/>
        </p:nvSpPr>
        <p:spPr>
          <a:xfrm>
            <a:off x="338800" y="762900"/>
            <a:ext cx="82296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Using ClinicalTrials.gov API: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19" name="Google Shape;219;p32"/>
          <p:cNvGraphicFramePr/>
          <p:nvPr/>
        </p:nvGraphicFramePr>
        <p:xfrm>
          <a:off x="457200" y="118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{D8D4563B-F474-4963-B300-0E38DE95C471}</a:tableStyleId>
              </a:tblPr>
              <a:tblGrid>
                <a:gridCol w="1979450"/>
                <a:gridCol w="6193000"/>
              </a:tblGrid>
              <a:tr h="2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Category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Features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F3F3F3"/>
                    </a:solidFill>
                  </a:tcPr>
                </a:tc>
              </a:tr>
              <a:tr h="2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Study Identifiers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Title (brief and official), Organization (name and class)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Study Status &amp; Type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Overall Status, Study Type, Phase, Primary Purpose, Condition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Study Timeline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Start Date, End Date, Duration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Study Enrollment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Actual Enrollment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Eligibility Criteria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Minimum Age Eligible, Maximum Age Eligible, Gender Eligible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1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Adverse Event</a:t>
                      </a:r>
                      <a:r>
                        <a:rPr lang="en" sz="1200"/>
                        <a:t>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Adverse Event Count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1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Geographic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Locations (full address, zip code), Location Count, RUCA Binary Value (urban vs non urban)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Clinical Trials Dataset</a:t>
            </a:r>
            <a:endParaRPr sz="1100"/>
          </a:p>
        </p:txBody>
      </p:sp>
      <p:graphicFrame>
        <p:nvGraphicFramePr>
          <p:cNvPr id="226" name="Google Shape;226;p33"/>
          <p:cNvGraphicFramePr/>
          <p:nvPr/>
        </p:nvGraphicFramePr>
        <p:xfrm>
          <a:off x="262150" y="7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{D8D4563B-F474-4963-B300-0E38DE95C471}</a:tableStyleId>
              </a:tblPr>
              <a:tblGrid>
                <a:gridCol w="2171700"/>
              </a:tblGrid>
              <a:tr h="13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Attrition Dataset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942A1"/>
                    </a:solidFill>
                  </a:tcPr>
                </a:tc>
              </a:tr>
              <a:tr h="13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NCT ID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32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Attrition Rate Percentage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7" name="Google Shape;227;p33"/>
          <p:cNvGraphicFramePr/>
          <p:nvPr/>
        </p:nvGraphicFramePr>
        <p:xfrm>
          <a:off x="6586750" y="7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{D8D4563B-F474-4963-B300-0E38DE95C471}</a:tableStyleId>
              </a:tblPr>
              <a:tblGrid>
                <a:gridCol w="2171700"/>
              </a:tblGrid>
              <a:tr h="48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RUCA Dataset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942A1"/>
                    </a:solidFill>
                  </a:tcPr>
                </a:tc>
              </a:tr>
              <a:tr h="4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Zip Code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State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Zip Type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RUCA1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4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RUCA2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28" name="Google Shape;228;p33"/>
          <p:cNvGraphicFramePr/>
          <p:nvPr/>
        </p:nvGraphicFramePr>
        <p:xfrm>
          <a:off x="3424450" y="77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{D8D4563B-F474-4963-B300-0E38DE95C471}</a:tableStyleId>
              </a:tblPr>
              <a:tblGrid>
                <a:gridCol w="2171700"/>
              </a:tblGrid>
              <a:tr h="233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Clinical Trials Dataset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942A1"/>
                    </a:solidFill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NCT ID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Study Identifiers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Study Status &amp; Type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Study Timeline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Study Enrollment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Eligibility Criteria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Adverse Events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Geographic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Attrition Rate Percentage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9" name="Google Shape;229;p33"/>
          <p:cNvCxnSpPr/>
          <p:nvPr/>
        </p:nvCxnSpPr>
        <p:spPr>
          <a:xfrm>
            <a:off x="2438400" y="1343025"/>
            <a:ext cx="981000" cy="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33"/>
          <p:cNvCxnSpPr/>
          <p:nvPr/>
        </p:nvCxnSpPr>
        <p:spPr>
          <a:xfrm>
            <a:off x="2438400" y="1695450"/>
            <a:ext cx="971700" cy="23337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33"/>
          <p:cNvCxnSpPr/>
          <p:nvPr/>
        </p:nvCxnSpPr>
        <p:spPr>
          <a:xfrm flipH="1">
            <a:off x="5610450" y="1343025"/>
            <a:ext cx="961800" cy="2362500"/>
          </a:xfrm>
          <a:prstGeom prst="straightConnector1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4"/>
          <p:cNvSpPr txBox="1"/>
          <p:nvPr>
            <p:ph type="ctrTitle"/>
          </p:nvPr>
        </p:nvSpPr>
        <p:spPr>
          <a:xfrm>
            <a:off x="502950" y="1936500"/>
            <a:ext cx="81459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4100">
                <a:solidFill>
                  <a:srgbClr val="BBBCBC"/>
                </a:solidFill>
              </a:rPr>
              <a:t>Feature Engineering &amp; Model Development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Feature Encoding</a:t>
            </a:r>
            <a:endParaRPr sz="1100"/>
          </a:p>
        </p:txBody>
      </p:sp>
      <p:sp>
        <p:nvSpPr>
          <p:cNvPr id="244" name="Google Shape;244;p35"/>
          <p:cNvSpPr txBox="1"/>
          <p:nvPr>
            <p:ph idx="4294967295" type="body"/>
          </p:nvPr>
        </p:nvSpPr>
        <p:spPr>
          <a:xfrm>
            <a:off x="262150" y="825050"/>
            <a:ext cx="8580600" cy="2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" sz="1700"/>
              <a:t>Dropout percentage was encoded into a binary variable:</a:t>
            </a:r>
            <a:endParaRPr sz="1700"/>
          </a:p>
          <a:p>
            <a:pPr indent="-184150" lvl="1" marL="55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 lang="en" sz="1700"/>
              <a:t>High attrition (1):</a:t>
            </a:r>
            <a:r>
              <a:rPr lang="en" sz="1700"/>
              <a:t> Dropout percentage &gt; median</a:t>
            </a:r>
            <a:endParaRPr sz="1700"/>
          </a:p>
          <a:p>
            <a:pPr indent="-184150" lvl="1" marL="55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 lang="en" sz="1700"/>
              <a:t>Low attrition (0):</a:t>
            </a:r>
            <a:r>
              <a:rPr lang="en" sz="1700"/>
              <a:t> Dropout percentage ≤ median</a:t>
            </a:r>
            <a:endParaRPr sz="1700"/>
          </a:p>
          <a:p>
            <a:pPr indent="-209550" lvl="0" marL="254000" rtl="0" algn="l"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sz="1700"/>
              <a:t>After encoding, low and high attrition are evenly distributed</a:t>
            </a:r>
            <a:endParaRPr sz="1700"/>
          </a:p>
        </p:txBody>
      </p:sp>
      <p:grpSp>
        <p:nvGrpSpPr>
          <p:cNvPr id="245" name="Google Shape;245;p35"/>
          <p:cNvGrpSpPr/>
          <p:nvPr/>
        </p:nvGrpSpPr>
        <p:grpSpPr>
          <a:xfrm>
            <a:off x="754283" y="1996655"/>
            <a:ext cx="3392743" cy="2408589"/>
            <a:chOff x="262151" y="873074"/>
            <a:chExt cx="4695839" cy="3333687"/>
          </a:xfrm>
        </p:grpSpPr>
        <p:pic>
          <p:nvPicPr>
            <p:cNvPr id="246" name="Google Shape;246;p35"/>
            <p:cNvPicPr preferRelativeResize="0"/>
            <p:nvPr/>
          </p:nvPicPr>
          <p:blipFill rotWithShape="1">
            <a:blip r:embed="rId3">
              <a:alphaModFix/>
            </a:blip>
            <a:srcRect b="5839" l="0" r="0" t="6094"/>
            <a:stretch/>
          </p:blipFill>
          <p:spPr>
            <a:xfrm>
              <a:off x="262151" y="873074"/>
              <a:ext cx="4695839" cy="3333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35"/>
            <p:cNvSpPr txBox="1"/>
            <p:nvPr/>
          </p:nvSpPr>
          <p:spPr>
            <a:xfrm>
              <a:off x="1771658" y="2066908"/>
              <a:ext cx="1947000" cy="46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B3066"/>
                  </a:solidFill>
                </a:rPr>
                <a:t>Median = 6.56%</a:t>
              </a:r>
              <a:endParaRPr b="1" sz="1000">
                <a:solidFill>
                  <a:srgbClr val="0B3066"/>
                </a:solidFill>
              </a:endParaRPr>
            </a:p>
          </p:txBody>
        </p:sp>
      </p:grpSp>
      <p:pic>
        <p:nvPicPr>
          <p:cNvPr id="248" name="Google Shape;248;p35"/>
          <p:cNvPicPr preferRelativeResize="0"/>
          <p:nvPr/>
        </p:nvPicPr>
        <p:blipFill rotWithShape="1">
          <a:blip r:embed="rId4">
            <a:alphaModFix/>
          </a:blip>
          <a:srcRect b="8007" l="0" r="0" t="7347"/>
          <a:stretch/>
        </p:blipFill>
        <p:spPr>
          <a:xfrm>
            <a:off x="4799800" y="1996650"/>
            <a:ext cx="3882209" cy="230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6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6"/>
          <p:cNvSpPr txBox="1"/>
          <p:nvPr>
            <p:ph type="ctrTitle"/>
          </p:nvPr>
        </p:nvSpPr>
        <p:spPr>
          <a:xfrm>
            <a:off x="626669" y="341275"/>
            <a:ext cx="72156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>
                <a:solidFill>
                  <a:srgbClr val="BBBCBC"/>
                </a:solidFill>
              </a:rPr>
              <a:t>Excluded Features in ML Modeling</a:t>
            </a:r>
            <a:endParaRPr/>
          </a:p>
        </p:txBody>
      </p:sp>
      <p:sp>
        <p:nvSpPr>
          <p:cNvPr id="256" name="Google Shape;256;p36"/>
          <p:cNvSpPr txBox="1"/>
          <p:nvPr>
            <p:ph idx="1" type="subTitle"/>
          </p:nvPr>
        </p:nvSpPr>
        <p:spPr>
          <a:xfrm>
            <a:off x="626675" y="1053175"/>
            <a:ext cx="74163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Titles and Organization Name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" sz="2200"/>
              <a:t>Too much variability and uncategorizable.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Overall Status, Study Type, Gender Eligibility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AutoNum type="alphaLcPeriod"/>
            </a:pPr>
            <a:r>
              <a:rPr lang="en" sz="2200"/>
              <a:t>Uniform values across trials, offering no predictive value for ML models.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7"/>
          <p:cNvSpPr txBox="1"/>
          <p:nvPr>
            <p:ph type="ctrTitle"/>
          </p:nvPr>
        </p:nvSpPr>
        <p:spPr>
          <a:xfrm>
            <a:off x="626669" y="235625"/>
            <a:ext cx="72156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3200">
                <a:solidFill>
                  <a:srgbClr val="BBBCBC"/>
                </a:solidFill>
              </a:rPr>
              <a:t>Features Used in ML Modeling</a:t>
            </a:r>
            <a:endParaRPr sz="3200"/>
          </a:p>
        </p:txBody>
      </p:sp>
      <p:sp>
        <p:nvSpPr>
          <p:cNvPr id="264" name="Google Shape;264;p37"/>
          <p:cNvSpPr txBox="1"/>
          <p:nvPr>
            <p:ph idx="1" type="subTitle"/>
          </p:nvPr>
        </p:nvSpPr>
        <p:spPr>
          <a:xfrm>
            <a:off x="526325" y="952500"/>
            <a:ext cx="74163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Already Numeric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Duration (years)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Actual enrollment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Location count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Adverse event count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One-Hot Encoded (Categorical)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Organization class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Primary purpose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Condition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RUCA Binary (Most Common)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Ordinal Encoded (Natural Order)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Phase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Transformed Non-Numeric to Numeric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Days since start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Minimum eligible age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lang="en" sz="1500"/>
              <a:t>Maximum eligible age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"/>
          <p:cNvSpPr txBox="1"/>
          <p:nvPr>
            <p:ph type="title"/>
          </p:nvPr>
        </p:nvSpPr>
        <p:spPr>
          <a:xfrm>
            <a:off x="213473" y="256327"/>
            <a:ext cx="86865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lang="en"/>
              <a:t>3 ML Classifiers Used</a:t>
            </a:r>
            <a:endParaRPr/>
          </a:p>
        </p:txBody>
      </p:sp>
      <p:graphicFrame>
        <p:nvGraphicFramePr>
          <p:cNvPr id="271" name="Google Shape;271;p38"/>
          <p:cNvGraphicFramePr/>
          <p:nvPr/>
        </p:nvGraphicFramePr>
        <p:xfrm>
          <a:off x="736750" y="841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{D8D4563B-F474-4963-B300-0E38DE95C471}</a:tableStyleId>
              </a:tblPr>
              <a:tblGrid>
                <a:gridCol w="1765600"/>
                <a:gridCol w="2069650"/>
                <a:gridCol w="1917625"/>
                <a:gridCol w="191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Strengths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Limitations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Use Cases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Logistic 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Simple, interpretable, fast to train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Assumes linear relationships, limited flexibility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Binary classification (e.g. spam detection)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Handles complex relationships, robust to overfitting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Less interpretable, more computationally intensive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Classification and regression tasks (e.g. customer segmentation)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SVM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Effective for high dimensional data, good at </a:t>
                      </a:r>
                      <a:r>
                        <a:rPr lang="en"/>
                        <a:t>finding decision boundaries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Computationally expensive, less interpretable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Text classification, image recognition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 Metrics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77" name="Google Shape;277;p39"/>
          <p:cNvGraphicFramePr/>
          <p:nvPr/>
        </p:nvGraphicFramePr>
        <p:xfrm>
          <a:off x="511000" y="189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{D8D4563B-F474-4963-B300-0E38DE95C471}</a:tableStyleId>
              </a:tblPr>
              <a:tblGrid>
                <a:gridCol w="1548850"/>
                <a:gridCol w="1222700"/>
                <a:gridCol w="1222700"/>
                <a:gridCol w="1222700"/>
                <a:gridCol w="1222700"/>
                <a:gridCol w="1222700"/>
              </a:tblGrid>
              <a:tr h="3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Model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Accuracy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Recall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Precision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F1 Score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AUC-ROC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Logistic Regression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0.630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0.592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0.631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0.611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0.691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Random Forest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0.694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0.685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0.690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0.687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0.768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SVM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0.540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0.800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0.520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0.630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0.634</a:t>
                      </a:r>
                      <a:endParaRPr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p39"/>
          <p:cNvSpPr txBox="1"/>
          <p:nvPr>
            <p:ph idx="1" type="body"/>
          </p:nvPr>
        </p:nvSpPr>
        <p:spPr>
          <a:xfrm>
            <a:off x="265875" y="1144325"/>
            <a:ext cx="8372700" cy="10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 sz="1500"/>
              <a:t>Random Forest performs best with highest accuracy, precision, F1 and AUC-ROC</a:t>
            </a:r>
            <a:endParaRPr sz="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 Summary (XGBoost Results)</a:t>
            </a:r>
            <a:endParaRPr/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289148" y="973200"/>
            <a:ext cx="8686500" cy="3197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800"/>
              <a:t>Top Contributing Features:</a:t>
            </a:r>
            <a:br>
              <a:rPr b="1" lang="en" sz="1800"/>
            </a:br>
            <a:endParaRPr b="1" sz="1800"/>
          </a:p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Actual Enrollment:</a:t>
            </a:r>
            <a:r>
              <a:rPr lang="en" sz="1500"/>
              <a:t> 574.0</a:t>
            </a:r>
            <a:endParaRPr sz="15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Attrition dynamics vary depending on </a:t>
            </a:r>
            <a:r>
              <a:rPr lang="en" sz="1400"/>
              <a:t>participant</a:t>
            </a:r>
            <a:r>
              <a:rPr lang="en" sz="1400"/>
              <a:t> pool</a:t>
            </a:r>
            <a:endParaRPr sz="14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Days Since Start:</a:t>
            </a:r>
            <a:r>
              <a:rPr lang="en" sz="1500"/>
              <a:t> 451.0</a:t>
            </a:r>
            <a:endParaRPr sz="15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Longer trials may result in higher dropout rates</a:t>
            </a:r>
            <a:endParaRPr sz="14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Locations Count:</a:t>
            </a:r>
            <a:r>
              <a:rPr lang="en" sz="1500"/>
              <a:t> 449.0</a:t>
            </a:r>
            <a:endParaRPr sz="15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The number of trial locations may improve accessibility and improve retention</a:t>
            </a:r>
            <a:endParaRPr sz="14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Adverse Event Count:</a:t>
            </a:r>
            <a:r>
              <a:rPr lang="en" sz="1500"/>
              <a:t> 185.0</a:t>
            </a:r>
            <a:endParaRPr sz="15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More adverse events may indicate participant dissatisfaction or discomfort</a:t>
            </a:r>
            <a:endParaRPr sz="14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 sz="1500"/>
              <a:t>Minimum Age Eligible:</a:t>
            </a:r>
            <a:r>
              <a:rPr lang="en" sz="1500"/>
              <a:t> 157.0</a:t>
            </a:r>
            <a:endParaRPr sz="15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Older participants may have more time to participate, or experience more health issues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1"/>
          <p:cNvSpPr txBox="1"/>
          <p:nvPr>
            <p:ph type="title"/>
          </p:nvPr>
        </p:nvSpPr>
        <p:spPr>
          <a:xfrm>
            <a:off x="213473" y="256327"/>
            <a:ext cx="8686500" cy="65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290" name="Google Shape;290;p41"/>
          <p:cNvSpPr txBox="1"/>
          <p:nvPr>
            <p:ph idx="1" type="body"/>
          </p:nvPr>
        </p:nvSpPr>
        <p:spPr>
          <a:xfrm>
            <a:off x="213473" y="1004150"/>
            <a:ext cx="8686500" cy="3197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74650" lvl="0" marL="457200" rtl="0" algn="l">
              <a:spcBef>
                <a:spcPts val="30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Explore additional decision tree-based models for prediction, focusing on optimizing performance since random forest yielded the best results.</a:t>
            </a:r>
            <a:br>
              <a:rPr lang="en" sz="2300"/>
            </a:b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Leverage the most important features identified through XGBoost to guide feature selection for future model development.</a:t>
            </a:r>
            <a:endParaRPr sz="2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2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2"/>
          <p:cNvSpPr txBox="1"/>
          <p:nvPr>
            <p:ph type="ctrTitle"/>
          </p:nvPr>
        </p:nvSpPr>
        <p:spPr>
          <a:xfrm>
            <a:off x="502950" y="2178000"/>
            <a:ext cx="81459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4100">
                <a:solidFill>
                  <a:srgbClr val="BBBCBC"/>
                </a:solidFill>
              </a:rPr>
              <a:t>Mapping by Attrition Rate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3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3"/>
          <p:cNvSpPr txBox="1"/>
          <p:nvPr>
            <p:ph type="ctrTitle"/>
          </p:nvPr>
        </p:nvSpPr>
        <p:spPr>
          <a:xfrm>
            <a:off x="626669" y="646075"/>
            <a:ext cx="73083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4100">
                <a:solidFill>
                  <a:srgbClr val="BBBCBC"/>
                </a:solidFill>
              </a:rPr>
              <a:t>Heat Map: Low attrition rate</a:t>
            </a:r>
            <a:endParaRPr/>
          </a:p>
        </p:txBody>
      </p:sp>
      <p:sp>
        <p:nvSpPr>
          <p:cNvPr id="305" name="Google Shape;305;p43"/>
          <p:cNvSpPr txBox="1"/>
          <p:nvPr>
            <p:ph idx="1" type="subTitle"/>
          </p:nvPr>
        </p:nvSpPr>
        <p:spPr>
          <a:xfrm>
            <a:off x="858900" y="2118750"/>
            <a:ext cx="7179000" cy="2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sz="1800"/>
              <a:t>Each NCT ID has a maximum # of 10 </a:t>
            </a:r>
            <a:r>
              <a:rPr lang="en" sz="1800"/>
              <a:t>locations</a:t>
            </a:r>
            <a:r>
              <a:rPr lang="en" sz="1800"/>
              <a:t> included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Low attrition rate: &lt; 10%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map contains 495 locations from 58 unique studies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Minimum </a:t>
            </a:r>
            <a:r>
              <a:rPr lang="en" sz="1800"/>
              <a:t>attrition rate: 0.116%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Maximum attrition rate: 9.80%</a:t>
            </a:r>
            <a:endParaRPr sz="1800"/>
          </a:p>
        </p:txBody>
      </p:sp>
      <p:sp>
        <p:nvSpPr>
          <p:cNvPr id="306" name="Google Shape;306;p43"/>
          <p:cNvSpPr txBox="1"/>
          <p:nvPr>
            <p:ph idx="1" type="subTitle"/>
          </p:nvPr>
        </p:nvSpPr>
        <p:spPr>
          <a:xfrm>
            <a:off x="858900" y="1457350"/>
            <a:ext cx="7426200" cy="41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800">
                <a:solidFill>
                  <a:schemeClr val="dk2"/>
                </a:solidFill>
              </a:rPr>
              <a:t>Locations included have an actual enrollment of &gt; 2,000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"/>
          <p:cNvSpPr txBox="1"/>
          <p:nvPr>
            <p:ph type="ctrTitle"/>
          </p:nvPr>
        </p:nvSpPr>
        <p:spPr>
          <a:xfrm>
            <a:off x="427894" y="397575"/>
            <a:ext cx="5267700" cy="129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4"/>
          <p:cNvSpPr txBox="1"/>
          <p:nvPr>
            <p:ph idx="1" type="subTitle"/>
          </p:nvPr>
        </p:nvSpPr>
        <p:spPr>
          <a:xfrm>
            <a:off x="427894" y="1859523"/>
            <a:ext cx="5267700" cy="73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00" y="119425"/>
            <a:ext cx="7925848" cy="404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 txBox="1"/>
          <p:nvPr/>
        </p:nvSpPr>
        <p:spPr>
          <a:xfrm>
            <a:off x="427900" y="3980425"/>
            <a:ext cx="40842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Low attrition map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5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5"/>
          <p:cNvSpPr txBox="1"/>
          <p:nvPr>
            <p:ph type="ctrTitle"/>
          </p:nvPr>
        </p:nvSpPr>
        <p:spPr>
          <a:xfrm>
            <a:off x="626669" y="646075"/>
            <a:ext cx="73083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4100">
                <a:solidFill>
                  <a:srgbClr val="BBBCBC"/>
                </a:solidFill>
              </a:rPr>
              <a:t>Heat Map: High attrition rate</a:t>
            </a:r>
            <a:endParaRPr/>
          </a:p>
        </p:txBody>
      </p:sp>
      <p:sp>
        <p:nvSpPr>
          <p:cNvPr id="322" name="Google Shape;322;p45"/>
          <p:cNvSpPr txBox="1"/>
          <p:nvPr>
            <p:ph idx="1" type="subTitle"/>
          </p:nvPr>
        </p:nvSpPr>
        <p:spPr>
          <a:xfrm>
            <a:off x="858900" y="1457350"/>
            <a:ext cx="7426200" cy="41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800">
                <a:solidFill>
                  <a:schemeClr val="dk2"/>
                </a:solidFill>
              </a:rPr>
              <a:t>Locations included have an actual enrollment of &gt; 2,000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858900" y="2118750"/>
            <a:ext cx="7179000" cy="22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</a:pPr>
            <a:r>
              <a:rPr lang="en" sz="1800"/>
              <a:t>Each NCT ID has a maximum # of 10 locations included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High attrition rate: &gt;= 10%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map contains 285 locations from 30 unique studies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Minimum attrition rate: 10.08%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Maximum attrition rate: 35.84%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6"/>
          <p:cNvSpPr txBox="1"/>
          <p:nvPr>
            <p:ph type="ctrTitle"/>
          </p:nvPr>
        </p:nvSpPr>
        <p:spPr>
          <a:xfrm>
            <a:off x="427894" y="397575"/>
            <a:ext cx="5267700" cy="129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6"/>
          <p:cNvSpPr txBox="1"/>
          <p:nvPr>
            <p:ph idx="1" type="subTitle"/>
          </p:nvPr>
        </p:nvSpPr>
        <p:spPr>
          <a:xfrm>
            <a:off x="427894" y="1859523"/>
            <a:ext cx="5267700" cy="73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375" y="-1"/>
            <a:ext cx="7155824" cy="4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6"/>
          <p:cNvSpPr txBox="1"/>
          <p:nvPr/>
        </p:nvSpPr>
        <p:spPr>
          <a:xfrm>
            <a:off x="686375" y="4035875"/>
            <a:ext cx="3088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High attrition map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7"/>
          <p:cNvSpPr/>
          <p:nvPr/>
        </p:nvSpPr>
        <p:spPr>
          <a:xfrm>
            <a:off x="0" y="0"/>
            <a:ext cx="9151800" cy="5143500"/>
          </a:xfrm>
          <a:prstGeom prst="rect">
            <a:avLst/>
          </a:prstGeom>
          <a:solidFill>
            <a:srgbClr val="011B3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7"/>
          <p:cNvSpPr txBox="1"/>
          <p:nvPr>
            <p:ph type="ctrTitle"/>
          </p:nvPr>
        </p:nvSpPr>
        <p:spPr>
          <a:xfrm>
            <a:off x="499050" y="1405800"/>
            <a:ext cx="81459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BCBC"/>
              </a:buClr>
              <a:buSzPts val="4100"/>
              <a:buFont typeface="Helvetica Neue"/>
              <a:buNone/>
            </a:pPr>
            <a:r>
              <a:rPr lang="en" sz="4100">
                <a:solidFill>
                  <a:srgbClr val="BBBCBC"/>
                </a:solidFill>
              </a:rPr>
              <a:t>Thank you!</a:t>
            </a:r>
            <a:endParaRPr/>
          </a:p>
        </p:txBody>
      </p:sp>
      <p:sp>
        <p:nvSpPr>
          <p:cNvPr id="339" name="Google Shape;339;p47"/>
          <p:cNvSpPr txBox="1"/>
          <p:nvPr/>
        </p:nvSpPr>
        <p:spPr>
          <a:xfrm>
            <a:off x="619700" y="2469850"/>
            <a:ext cx="6272100" cy="14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Stephanie –  extracted data using the API and integrated the datasets.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Pari – handled data preprocessing and developed machine-learning models.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 –  created the heatmaps. </a:t>
            </a:r>
            <a:endParaRPr sz="11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– contributed to feature and outcome selection, writing the report, and creating the presentation.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8"/>
          <p:cNvSpPr txBox="1"/>
          <p:nvPr>
            <p:ph type="ctrTitle"/>
          </p:nvPr>
        </p:nvSpPr>
        <p:spPr>
          <a:xfrm>
            <a:off x="427900" y="397575"/>
            <a:ext cx="5267700" cy="55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8"/>
          <p:cNvSpPr txBox="1"/>
          <p:nvPr/>
        </p:nvSpPr>
        <p:spPr>
          <a:xfrm>
            <a:off x="427900" y="346575"/>
            <a:ext cx="613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References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46" name="Google Shape;346;p48"/>
          <p:cNvSpPr txBox="1"/>
          <p:nvPr/>
        </p:nvSpPr>
        <p:spPr>
          <a:xfrm>
            <a:off x="599125" y="951675"/>
            <a:ext cx="8146500" cy="3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Attrition and randomized controlled trials. August 2014. Accessed December 14, 2024. https://homvee.acf.hhs.gov/sites/default/files/2019-08/HomVEE_brief_2014-49.pdf.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9"/>
          <p:cNvSpPr txBox="1"/>
          <p:nvPr>
            <p:ph type="title"/>
          </p:nvPr>
        </p:nvSpPr>
        <p:spPr>
          <a:xfrm>
            <a:off x="213473" y="256327"/>
            <a:ext cx="86865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lang="en"/>
              <a:t>Model Evaluation</a:t>
            </a:r>
            <a:endParaRPr/>
          </a:p>
        </p:txBody>
      </p:sp>
      <p:graphicFrame>
        <p:nvGraphicFramePr>
          <p:cNvPr id="353" name="Google Shape;353;p49"/>
          <p:cNvGraphicFramePr/>
          <p:nvPr/>
        </p:nvGraphicFramePr>
        <p:xfrm>
          <a:off x="364525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{D8D4563B-F474-4963-B300-0E38DE95C471}</a:tableStyleId>
              </a:tblPr>
              <a:tblGrid>
                <a:gridCol w="975825"/>
                <a:gridCol w="3677425"/>
                <a:gridCol w="3987900"/>
              </a:tblGrid>
              <a:tr h="26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Metric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Definition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Use</a:t>
                      </a:r>
                      <a:endParaRPr b="1" sz="1200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26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Accuracy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overall proportion of correct predictions (both true positives and true negatives) out of all predictions.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How well does the classifier predict both true positives and true negatives?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Precision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proportion of true positives among all positive predictions.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How well does the classifier avoid false positives?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Recall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The proportion of true positives among all actual </a:t>
                      </a:r>
                      <a:r>
                        <a:rPr lang="en" sz="1100"/>
                        <a:t>positives</a:t>
                      </a:r>
                      <a:r>
                        <a:rPr lang="en" sz="1100"/>
                        <a:t>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How well does the classifier identify all true positives? 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6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F1 Score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The harmonic mean of precision and recall.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How well does the classifier perform in terms of both Precision and Recall?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5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AUC-ROC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he area under the receiver operating characteristic curve.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How well does the classifier distinguish 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between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positive and negative classes? 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0" title="distribution_ph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649" y="588063"/>
            <a:ext cx="3832136" cy="329507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0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Encoded Feature Data - Phase and Purpose</a:t>
            </a:r>
            <a:endParaRPr sz="1100"/>
          </a:p>
        </p:txBody>
      </p:sp>
      <p:pic>
        <p:nvPicPr>
          <p:cNvPr id="360" name="Google Shape;360;p50" title="distribution_primary_purpose.png"/>
          <p:cNvPicPr preferRelativeResize="0"/>
          <p:nvPr/>
        </p:nvPicPr>
        <p:blipFill rotWithShape="1">
          <a:blip r:embed="rId4">
            <a:alphaModFix/>
          </a:blip>
          <a:srcRect b="4843" l="0" r="0" t="0"/>
          <a:stretch/>
        </p:blipFill>
        <p:spPr>
          <a:xfrm>
            <a:off x="4563765" y="632206"/>
            <a:ext cx="3778582" cy="3768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1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Encoded Feature Data - RUCA</a:t>
            </a:r>
            <a:endParaRPr sz="1100"/>
          </a:p>
        </p:txBody>
      </p:sp>
      <p:pic>
        <p:nvPicPr>
          <p:cNvPr id="366" name="Google Shape;36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9375" y="859226"/>
            <a:ext cx="5295150" cy="330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Encoded Feature Data - Days since start, Duration, Adverse Event Count</a:t>
            </a:r>
            <a:endParaRPr sz="1100"/>
          </a:p>
        </p:txBody>
      </p:sp>
      <p:pic>
        <p:nvPicPr>
          <p:cNvPr id="372" name="Google Shape;372;p52" title="distribution_days_since_st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400" y="1284926"/>
            <a:ext cx="3141125" cy="2480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52" title="distribution_study_dur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7160" y="1291609"/>
            <a:ext cx="3141125" cy="253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52" title="distribution_adverse_event_cou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1407" y="1291616"/>
            <a:ext cx="3241196" cy="2533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type="ctrTitle"/>
          </p:nvPr>
        </p:nvSpPr>
        <p:spPr>
          <a:xfrm>
            <a:off x="427894" y="397575"/>
            <a:ext cx="5267700" cy="1299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3"/>
          <p:cNvSpPr txBox="1"/>
          <p:nvPr>
            <p:ph idx="1" type="subTitle"/>
          </p:nvPr>
        </p:nvSpPr>
        <p:spPr>
          <a:xfrm>
            <a:off x="427894" y="2240523"/>
            <a:ext cx="5267700" cy="734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53" title="distribution_condition_category.png"/>
          <p:cNvPicPr preferRelativeResize="0"/>
          <p:nvPr/>
        </p:nvPicPr>
        <p:blipFill rotWithShape="1">
          <a:blip r:embed="rId3">
            <a:alphaModFix/>
          </a:blip>
          <a:srcRect b="5357" l="0" r="0" t="0"/>
          <a:stretch/>
        </p:blipFill>
        <p:spPr>
          <a:xfrm>
            <a:off x="4450800" y="928700"/>
            <a:ext cx="3952748" cy="345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3" title="distribution_organization_cla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438" y="928700"/>
            <a:ext cx="3874248" cy="3450474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53"/>
          <p:cNvSpPr txBox="1"/>
          <p:nvPr/>
        </p:nvSpPr>
        <p:spPr>
          <a:xfrm>
            <a:off x="262149" y="233757"/>
            <a:ext cx="8229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2D50"/>
              </a:buClr>
              <a:buSzPts val="2700"/>
              <a:buFont typeface="Helvetica Neue"/>
              <a:buNone/>
            </a:pPr>
            <a:r>
              <a:rPr b="1" lang="en" sz="2700">
                <a:solidFill>
                  <a:srgbClr val="002D5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Encoded Feature Data - Organization Class, Condition Category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Georgetown University OA">
      <a:dk1>
        <a:srgbClr val="000000"/>
      </a:dk1>
      <a:lt1>
        <a:srgbClr val="FFFFFF"/>
      </a:lt1>
      <a:dk2>
        <a:srgbClr val="011B39"/>
      </a:dk2>
      <a:lt2>
        <a:srgbClr val="4A4C4D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3D81"/>
      </a:hlink>
      <a:folHlink>
        <a:srgbClr val="00A4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